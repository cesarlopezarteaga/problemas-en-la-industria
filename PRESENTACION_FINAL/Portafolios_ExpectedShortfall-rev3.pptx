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7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1341" r:id="rId5"/>
    <p:sldId id="258" r:id="rId6"/>
    <p:sldId id="272" r:id="rId7"/>
    <p:sldId id="2147471573" r:id="rId8"/>
    <p:sldId id="2147471583" r:id="rId9"/>
    <p:sldId id="2147471574" r:id="rId10"/>
    <p:sldId id="2147471575" r:id="rId11"/>
    <p:sldId id="2147471576" r:id="rId12"/>
    <p:sldId id="2147471577" r:id="rId13"/>
    <p:sldId id="2147471584" r:id="rId14"/>
    <p:sldId id="2147471578" r:id="rId15"/>
    <p:sldId id="2147471579" r:id="rId16"/>
    <p:sldId id="2147471580" r:id="rId17"/>
    <p:sldId id="2147471581" r:id="rId18"/>
    <p:sldId id="2147471500" r:id="rId19"/>
    <p:sldId id="2147471548" r:id="rId20"/>
    <p:sldId id="2147471570" r:id="rId21"/>
    <p:sldId id="2147471571" r:id="rId22"/>
    <p:sldId id="2147471572" r:id="rId23"/>
    <p:sldId id="2147471582" r:id="rId24"/>
    <p:sldId id="2147471544" r:id="rId25"/>
    <p:sldId id="37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9B80E59-99D1-4CE5-A7B2-E75EE3CD44A5}">
          <p14:sldIdLst>
            <p14:sldId id="1341"/>
            <p14:sldId id="258"/>
            <p14:sldId id="272"/>
            <p14:sldId id="2147471573"/>
            <p14:sldId id="2147471583"/>
            <p14:sldId id="2147471574"/>
            <p14:sldId id="2147471575"/>
            <p14:sldId id="2147471576"/>
            <p14:sldId id="2147471577"/>
            <p14:sldId id="2147471584"/>
            <p14:sldId id="2147471578"/>
            <p14:sldId id="2147471579"/>
            <p14:sldId id="2147471580"/>
            <p14:sldId id="2147471581"/>
            <p14:sldId id="2147471500"/>
            <p14:sldId id="2147471548"/>
            <p14:sldId id="2147471570"/>
            <p14:sldId id="2147471571"/>
            <p14:sldId id="2147471572"/>
            <p14:sldId id="2147471582"/>
            <p14:sldId id="2147471544"/>
            <p14:sldId id="37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DD6C"/>
    <a:srgbClr val="DC202E"/>
    <a:srgbClr val="FF9900"/>
    <a:srgbClr val="9900FF"/>
    <a:srgbClr val="00CC66"/>
    <a:srgbClr val="66CCFF"/>
    <a:srgbClr val="0000CC"/>
    <a:srgbClr val="FFFFFF"/>
    <a:srgbClr val="E0E0E0"/>
    <a:srgbClr val="C0C0C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0741" autoAdjust="0"/>
  </p:normalViewPr>
  <p:slideViewPr>
    <p:cSldViewPr snapToGrid="0" snapToObjects="1" showGuides="1">
      <p:cViewPr varScale="1">
        <p:scale>
          <a:sx n="103" d="100"/>
          <a:sy n="103" d="100"/>
        </p:scale>
        <p:origin x="138" y="1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 showGuides="1">
      <p:cViewPr varScale="1">
        <p:scale>
          <a:sx n="124" d="100"/>
          <a:sy n="124" d="100"/>
        </p:scale>
        <p:origin x="4872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598721-3323-42CB-96FB-C6D7D9D206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2FF977-0234-4542-94AE-376F45A8E77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6CFF9-B101-4D5A-AE5F-81BC4D91C17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DC7A7-567A-4A18-A303-6ED5E91C67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C55533-4890-43A5-8A14-C9DE3F2561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C57C73-0239-4725-8F06-3E607150BC4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957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0AA0C4-695F-4136-A1C4-C28E233376CC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70284F-7E88-4545-9BB2-221688BE3F3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178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600"/>
      </a:spcAft>
      <a:defRPr sz="1200" b="1" kern="120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spcAft>
        <a:spcPts val="60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71450" indent="-171450" algn="l" defTabSz="914400" rtl="0" eaLnBrk="1" latinLnBrk="0" hangingPunct="1">
      <a:spcAft>
        <a:spcPts val="6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00050" indent="-17145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630238" indent="-171450" algn="l" defTabSz="914400" rtl="0" eaLnBrk="1" latinLnBrk="0" hangingPunct="1">
      <a:spcAft>
        <a:spcPts val="600"/>
      </a:spcAft>
      <a:buFont typeface="Arial" panose="020B0604020202020204" pitchFamily="34" charset="0"/>
      <a:buChar char="•"/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70284F-7E88-4545-9BB2-221688BE3F3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3129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24443-EB86-C408-3874-67128D3A1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A3D135-B597-A56F-D03F-B17D51AAFB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C6D8D7-B107-7097-CC01-7DC39DBBED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4763C-0701-5574-68C8-5ACC281C11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59AAE-0E28-4273-8ED7-E47A90D744F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917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ECACC-A251-83B5-F5D8-C48D16248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9F7463-6227-3A21-84C0-C30F2BBE5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5945DD-2C02-B584-DFFA-D0B37B9A0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DE68F-24E9-C352-40DB-6018934FFD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59AAE-0E28-4273-8ED7-E47A90D744F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968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5CBC7-F987-FC6D-EDD3-4D01714B0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005D31-7B4E-A1C8-1D94-A5DFA0B00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8D2EE8-3B9D-0CBE-6209-26525D50ED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DC8BA-1E14-9001-636C-E87DE13BA9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59AAE-0E28-4273-8ED7-E47A90D744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488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6594F-3900-4FDC-017B-40C29FE58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8513B3-36C9-0069-6DDE-DD8A4F4D3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C3A80F-B87D-24BA-9752-DCF7B83F3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89ADD-5AD4-3235-E9F3-4B3C2E5E49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59AAE-0E28-4273-8ED7-E47A90D744F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768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533A7-1195-7D7D-9A40-4D05FEED8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BEB300-60BD-16A4-D6BF-7B32C62B92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81652A-BBE0-3E93-E436-D814C447A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AE0B0-5C5C-653F-4F92-A2E5B02454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59AAE-0E28-4273-8ED7-E47A90D744F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77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7CAD5-9B7B-08A6-231C-77BEEE0B4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713D26-A2BA-6EFF-782B-D15CB79BE6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EDE0D2-23C8-4B7C-E32E-8FBB96892F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600" dirty="0"/>
              <a:t>Con el objetivo de garantizar la consistencia </a:t>
            </a:r>
            <a:r>
              <a:rPr lang="es-ES" sz="1600" dirty="0" err="1"/>
              <a:t>matem´atica</a:t>
            </a:r>
            <a:r>
              <a:rPr lang="es-ES" sz="1600" dirty="0"/>
              <a:t> del modelado de dependen-</a:t>
            </a:r>
          </a:p>
          <a:p>
            <a:r>
              <a:rPr lang="es-ES" sz="1600" dirty="0" err="1"/>
              <a:t>cia</a:t>
            </a:r>
            <a:r>
              <a:rPr lang="es-ES" sz="1600" dirty="0"/>
              <a:t> entre activos, se procede a verificar que la matriz de covarianzas </a:t>
            </a:r>
            <a:r>
              <a:rPr lang="es-ES" sz="1600" dirty="0" err="1"/>
              <a:t>Cov</a:t>
            </a:r>
            <a:r>
              <a:rPr lang="es-ES" sz="1600" dirty="0"/>
              <a:t> cumpla las</a:t>
            </a:r>
          </a:p>
          <a:p>
            <a:r>
              <a:rPr lang="es-ES" sz="1600" dirty="0"/>
              <a:t>propiedades fundamentales requeridas. En particular, se debe comprobar que:</a:t>
            </a:r>
          </a:p>
          <a:p>
            <a:r>
              <a:rPr lang="es-ES" sz="1600" dirty="0"/>
              <a:t>• la matriz sea </a:t>
            </a:r>
            <a:r>
              <a:rPr lang="es-ES" sz="1600" dirty="0" err="1"/>
              <a:t>sim´etrica</a:t>
            </a:r>
            <a:r>
              <a:rPr lang="es-ES" sz="1600" dirty="0"/>
              <a:t>, es decir, </a:t>
            </a:r>
            <a:r>
              <a:rPr lang="es-ES" sz="1600" dirty="0" err="1"/>
              <a:t>Cov</a:t>
            </a:r>
            <a:r>
              <a:rPr lang="es-ES" sz="1600" dirty="0"/>
              <a:t> = </a:t>
            </a:r>
            <a:r>
              <a:rPr lang="es-ES" sz="1600" dirty="0" err="1"/>
              <a:t>CovT</a:t>
            </a:r>
            <a:r>
              <a:rPr lang="es-ES" sz="1600" dirty="0"/>
              <a:t>;</a:t>
            </a:r>
          </a:p>
          <a:p>
            <a:r>
              <a:rPr lang="es-ES" sz="1600" dirty="0"/>
              <a:t>• la matriz sea semidefinida positiva, lo que equivale a que todos sus autovalores</a:t>
            </a:r>
          </a:p>
          <a:p>
            <a:r>
              <a:rPr lang="es-ES" sz="1600" dirty="0"/>
              <a:t>sean no negativos;</a:t>
            </a:r>
          </a:p>
          <a:p>
            <a:r>
              <a:rPr lang="es-ES" sz="1600" dirty="0"/>
              <a:t>• su estructura espectral permita una </a:t>
            </a:r>
            <a:r>
              <a:rPr lang="es-ES" sz="1600" dirty="0" err="1"/>
              <a:t>factorizaci´on</a:t>
            </a:r>
            <a:r>
              <a:rPr lang="es-ES" sz="1600" dirty="0"/>
              <a:t> </a:t>
            </a:r>
            <a:r>
              <a:rPr lang="es-ES" sz="1600" dirty="0" err="1"/>
              <a:t>num´ericamente</a:t>
            </a:r>
            <a:r>
              <a:rPr lang="es-ES" sz="1600" dirty="0"/>
              <a:t> estable.</a:t>
            </a: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B7393-D824-E38D-B970-09F6522289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59AAE-0E28-4273-8ED7-E47A90D744F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5081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12D70-1580-E887-2CD1-5722F1F3C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2316B2-32B7-772C-C14D-BB424AB78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E60828-0726-E9D6-E414-80455AA074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4A96D-35A8-8A04-9ED3-F0F4BCF99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59AAE-0E28-4273-8ED7-E47A90D744F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3545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70284F-7E88-4545-9BB2-221688BE3F3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034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+ Pic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9632D-2F70-4D0E-B737-ACF4A2DDEB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0" y="1409700"/>
            <a:ext cx="8382000" cy="2019300"/>
          </a:xfrm>
        </p:spPr>
        <p:txBody>
          <a:bodyPr tIns="0" anchor="t"/>
          <a:lstStyle>
            <a:lvl1pPr algn="l">
              <a:lnSpc>
                <a:spcPct val="80000"/>
              </a:lnSpc>
              <a:defRPr sz="4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7C3F44-5413-48F1-ACBF-6BEAE9CA81A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5300" y="3848100"/>
            <a:ext cx="5600700" cy="892017"/>
          </a:xfrm>
        </p:spPr>
        <p:txBody>
          <a:bodyPr tIns="0" bIns="182880" anchor="t" anchorCtr="0"/>
          <a:lstStyle>
            <a:lvl1pPr marL="0" indent="0" algn="l">
              <a:spcAft>
                <a:spcPts val="0"/>
              </a:spcAft>
              <a:buNone/>
              <a:defRPr sz="1600" b="0" cap="all" baseline="0">
                <a:latin typeface="+mj-lt"/>
              </a:defRPr>
            </a:lvl1pPr>
            <a:lvl2pPr marL="0" indent="0" algn="l">
              <a:spcAft>
                <a:spcPts val="1200"/>
              </a:spcAft>
              <a:buNone/>
              <a:defRPr sz="1600" b="1" cap="all" baseline="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Presenter’s Name</a:t>
            </a:r>
          </a:p>
          <a:p>
            <a:pPr lvl="1"/>
            <a:r>
              <a:rPr lang="en-US" dirty="0"/>
              <a:t>Presenter’s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79F04-7833-4562-B8D1-AC0341D757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5300" y="499811"/>
            <a:ext cx="2743200" cy="365125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1600" b="1">
                <a:latin typeface="+mn-lt"/>
              </a:defRPr>
            </a:lvl1pPr>
          </a:lstStyle>
          <a:p>
            <a:fld id="{D105F950-05EE-42A4-8FEF-DE33869804CE}" type="datetime4">
              <a:rPr lang="en-US" smtClean="0"/>
              <a:t>January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308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92" userDrawn="1">
          <p15:clr>
            <a:srgbClr val="FBAE40"/>
          </p15:clr>
        </p15:guide>
        <p15:guide id="2" orient="horz" pos="321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+ Pic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9632D-2F70-4D0E-B737-ACF4A2DDEB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0" y="1409700"/>
            <a:ext cx="8382000" cy="2019300"/>
          </a:xfrm>
        </p:spPr>
        <p:txBody>
          <a:bodyPr tIns="0" anchor="t"/>
          <a:lstStyle>
            <a:lvl1pPr algn="l">
              <a:lnSpc>
                <a:spcPct val="80000"/>
              </a:lnSpc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7C3F44-5413-48F1-ACBF-6BEAE9CA81A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5300" y="3848100"/>
            <a:ext cx="5600700" cy="892017"/>
          </a:xfrm>
        </p:spPr>
        <p:txBody>
          <a:bodyPr tIns="0" bIns="182880" anchor="t" anchorCtr="0"/>
          <a:lstStyle>
            <a:lvl1pPr marL="0" indent="0" algn="l">
              <a:spcAft>
                <a:spcPts val="0"/>
              </a:spcAft>
              <a:buNone/>
              <a:defRPr sz="1600" b="0" cap="all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spcAft>
                <a:spcPts val="1200"/>
              </a:spcAft>
              <a:buNone/>
              <a:defRPr sz="1600" b="1" cap="all" baseline="0">
                <a:solidFill>
                  <a:schemeClr val="bg1"/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Presenter’s Name</a:t>
            </a:r>
          </a:p>
          <a:p>
            <a:pPr lvl="1"/>
            <a:r>
              <a:rPr lang="en-US" dirty="0"/>
              <a:t>Presenter’s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79F04-7833-4562-B8D1-AC0341D757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5300" y="498668"/>
            <a:ext cx="2743200" cy="365125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27A3D956-E391-41FE-BC3D-8A5C91DE06B1}" type="datetime4">
              <a:rPr lang="en-US" smtClean="0"/>
              <a:t>January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543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92">
          <p15:clr>
            <a:srgbClr val="FBAE40"/>
          </p15:clr>
        </p15:guide>
        <p15:guide id="2" orient="horz" pos="321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Colo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9632D-2F70-4D0E-B737-ACF4A2DDEB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0" y="1409700"/>
            <a:ext cx="8382000" cy="2019300"/>
          </a:xfrm>
        </p:spPr>
        <p:txBody>
          <a:bodyPr tIns="0" anchor="t"/>
          <a:lstStyle>
            <a:lvl1pPr algn="l">
              <a:lnSpc>
                <a:spcPct val="80000"/>
              </a:lnSpc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7C3F44-5413-48F1-ACBF-6BEAE9CA81A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5300" y="3848100"/>
            <a:ext cx="5600700" cy="892017"/>
          </a:xfrm>
        </p:spPr>
        <p:txBody>
          <a:bodyPr tIns="0" bIns="182880" anchor="t" anchorCtr="0"/>
          <a:lstStyle>
            <a:lvl1pPr marL="0" indent="0" algn="l">
              <a:spcAft>
                <a:spcPts val="0"/>
              </a:spcAft>
              <a:buNone/>
              <a:defRPr sz="1600" b="0" cap="all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spcAft>
                <a:spcPts val="1200"/>
              </a:spcAft>
              <a:buNone/>
              <a:defRPr sz="1600" b="1" cap="all" baseline="0">
                <a:solidFill>
                  <a:schemeClr val="bg1"/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Presenter’s Name</a:t>
            </a:r>
          </a:p>
          <a:p>
            <a:pPr lvl="1"/>
            <a:r>
              <a:rPr lang="en-US" dirty="0"/>
              <a:t>Presenter’s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79F04-7833-4562-B8D1-AC0341D757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5300" y="498668"/>
            <a:ext cx="2743200" cy="365125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CABE2306-64B2-4E76-99C5-2A47454E6DC8}" type="datetime4">
              <a:rPr lang="en-US" smtClean="0"/>
              <a:t>January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345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92">
          <p15:clr>
            <a:srgbClr val="FBAE40"/>
          </p15:clr>
        </p15:guide>
        <p15:guide id="2" orient="horz" pos="321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5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7FEED254-594A-4DEF-B14F-BB320B35EA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2"/>
            <a:ext cx="2395728" cy="3009902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D14B37AE-D376-4803-909C-43B768E77C4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450164" y="-2"/>
            <a:ext cx="2395728" cy="3009902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CC3E13D1-E94F-4B4D-83D6-B5F06339C4E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00328" y="-2"/>
            <a:ext cx="2395728" cy="3009902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0A7BAA9-D280-435E-831E-F80E2AAA107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800656" y="-2"/>
            <a:ext cx="2395728" cy="3009902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8319823-0FB9-4E89-AEE4-CE31D964944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350492" y="-2"/>
            <a:ext cx="2395728" cy="3009902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C9632D-2F70-4D0E-B737-ACF4A2DDEB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0" y="3429001"/>
            <a:ext cx="11201400" cy="952500"/>
          </a:xfrm>
        </p:spPr>
        <p:txBody>
          <a:bodyPr tIns="0" anchor="t"/>
          <a:lstStyle>
            <a:lvl1pPr algn="l">
              <a:lnSpc>
                <a:spcPct val="80000"/>
              </a:lnSpc>
              <a:defRPr sz="44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7C3F44-5413-48F1-ACBF-6BEAE9CA81A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5300" y="4800600"/>
            <a:ext cx="2819400" cy="1066801"/>
          </a:xfrm>
        </p:spPr>
        <p:txBody>
          <a:bodyPr tIns="0" bIns="182880" anchor="t" anchorCtr="0"/>
          <a:lstStyle>
            <a:lvl1pPr marL="0" indent="0" algn="l">
              <a:spcAft>
                <a:spcPts val="0"/>
              </a:spcAft>
              <a:buNone/>
              <a:defRPr sz="1600" b="0" cap="all" baseline="0">
                <a:solidFill>
                  <a:schemeClr val="tx1"/>
                </a:solidFill>
                <a:latin typeface="+mj-lt"/>
              </a:defRPr>
            </a:lvl1pPr>
            <a:lvl2pPr marL="0" indent="0" algn="l">
              <a:spcAft>
                <a:spcPts val="1200"/>
              </a:spcAft>
              <a:buNone/>
              <a:defRPr sz="1600" b="1" cap="all" baseline="0">
                <a:solidFill>
                  <a:schemeClr val="tx1"/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Presenter’s Name</a:t>
            </a:r>
          </a:p>
          <a:p>
            <a:pPr lvl="1"/>
            <a:r>
              <a:rPr lang="en-US" dirty="0"/>
              <a:t>Presenter’s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79F04-7833-4562-B8D1-AC0341D757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77300" y="4800601"/>
            <a:ext cx="2819400" cy="673625"/>
          </a:xfrm>
          <a:prstGeom prst="rect">
            <a:avLst/>
          </a:prstGeom>
        </p:spPr>
        <p:txBody>
          <a:bodyPr lIns="0" tIns="0" rIns="0" bIns="0" anchor="t"/>
          <a:lstStyle>
            <a:lvl1pPr algn="r">
              <a:defRPr sz="1600" b="1">
                <a:solidFill>
                  <a:schemeClr val="tx1"/>
                </a:solidFill>
                <a:latin typeface="+mn-lt"/>
              </a:defRPr>
            </a:lvl1pPr>
          </a:lstStyle>
          <a:p>
            <a:fld id="{933D8C16-F92E-42E4-A695-CFC4867433E8}" type="datetime4">
              <a:rPr lang="en-US" smtClean="0"/>
              <a:t>January 3, 2026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AF49CC-7AC6-5654-454B-1D50C40B43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5300" y="5911830"/>
            <a:ext cx="2209914" cy="74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914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92">
          <p15:clr>
            <a:srgbClr val="FBAE40"/>
          </p15:clr>
        </p15:guide>
        <p15:guide id="2" orient="horz" pos="3024" userDrawn="1">
          <p15:clr>
            <a:srgbClr val="FBAE40"/>
          </p15:clr>
        </p15:guide>
        <p15:guide id="3" orient="horz" pos="1896" userDrawn="1">
          <p15:clr>
            <a:srgbClr val="FBAE40"/>
          </p15:clr>
        </p15:guide>
        <p15:guide id="4" orient="horz" pos="276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Gra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4D9F8-D2F8-412B-8467-F3A1A6B4A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1409700"/>
            <a:ext cx="8382000" cy="2438401"/>
          </a:xfrm>
        </p:spPr>
        <p:txBody>
          <a:bodyPr tIns="0" anchor="t"/>
          <a:lstStyle>
            <a:lvl1pPr>
              <a:lnSpc>
                <a:spcPct val="80000"/>
              </a:lnSpc>
              <a:defRPr lang="en-US" sz="4400" b="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4BA69-0C36-44D3-95D1-C81223694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3848101"/>
            <a:ext cx="5600700" cy="2019300"/>
          </a:xfrm>
        </p:spPr>
        <p:txBody>
          <a:bodyPr/>
          <a:lstStyle>
            <a:lvl1pPr marL="0" indent="0"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446BA-0FD3-4FFF-B220-7298D3F88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B94EC18-1D2B-4535-B738-0E53AFE26620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49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9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+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4D9F8-D2F8-412B-8467-F3A1A6B4A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848099"/>
            <a:ext cx="8382000" cy="1257301"/>
          </a:xfrm>
        </p:spPr>
        <p:txBody>
          <a:bodyPr tIns="0" anchor="t"/>
          <a:lstStyle>
            <a:lvl1pPr>
              <a:lnSpc>
                <a:spcPct val="80000"/>
              </a:lnSpc>
              <a:defRPr sz="4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4BA69-0C36-44D3-95D1-C81223694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5105400"/>
            <a:ext cx="8382000" cy="1257301"/>
          </a:xfrm>
        </p:spPr>
        <p:txBody>
          <a:bodyPr tIns="182880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446BA-0FD3-4FFF-B220-7298D3F88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7B94EC18-1D2B-4535-B738-0E53AFE26620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AAC5B92-BD5C-40B8-8837-AA1A4971E6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4290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42716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16" userDrawn="1">
          <p15:clr>
            <a:srgbClr val="FBAE40"/>
          </p15:clr>
        </p15:guide>
        <p15:guide id="2" pos="559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+ 5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4D9F8-D2F8-412B-8467-F3A1A6B4A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848099"/>
            <a:ext cx="8382000" cy="1257301"/>
          </a:xfrm>
        </p:spPr>
        <p:txBody>
          <a:bodyPr tIns="0" anchor="t"/>
          <a:lstStyle>
            <a:lvl1pPr>
              <a:lnSpc>
                <a:spcPct val="80000"/>
              </a:lnSpc>
              <a:defRPr sz="4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4BA69-0C36-44D3-95D1-C81223694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299" y="5105400"/>
            <a:ext cx="8381999" cy="1257301"/>
          </a:xfrm>
        </p:spPr>
        <p:txBody>
          <a:bodyPr tIns="182880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446BA-0FD3-4FFF-B220-7298D3F88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7B94EC18-1D2B-4535-B738-0E53AFE26620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AAC5B92-BD5C-40B8-8837-AA1A4971E6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2"/>
            <a:ext cx="2395728" cy="34290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80D7819A-630E-44DC-929F-9334907748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448189" y="-2"/>
            <a:ext cx="2395728" cy="34290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86C7584E-D951-44B3-B6A7-50BBD18EEA0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96378" y="-2"/>
            <a:ext cx="2395728" cy="34290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2B80078C-A569-4E2A-801C-5381A518F10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792756" y="-2"/>
            <a:ext cx="2395728" cy="34290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83DF5146-688C-4FB5-8042-A8DDBF6B622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344567" y="-2"/>
            <a:ext cx="2395728" cy="34290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13024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16">
          <p15:clr>
            <a:srgbClr val="FBAE40"/>
          </p15:clr>
        </p15:guide>
        <p15:guide id="2" pos="559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+ Icon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4D9F8-D2F8-412B-8467-F3A1A6B4A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429001"/>
            <a:ext cx="8382000" cy="1447799"/>
          </a:xfrm>
        </p:spPr>
        <p:txBody>
          <a:bodyPr tIns="0" anchor="t"/>
          <a:lstStyle>
            <a:lvl1pPr>
              <a:lnSpc>
                <a:spcPct val="80000"/>
              </a:lnSpc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4BA69-0C36-44D3-95D1-C81223694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4876800"/>
            <a:ext cx="8382000" cy="1485901"/>
          </a:xfrm>
        </p:spPr>
        <p:txBody>
          <a:bodyPr tIns="182880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446BA-0FD3-4FFF-B220-7298D3F88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B94EC18-1D2B-4535-B738-0E53AFE26620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077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72" userDrawn="1">
          <p15:clr>
            <a:srgbClr val="FBAE40"/>
          </p15:clr>
        </p15:guide>
        <p15:guide id="2" pos="559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+ large Ico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4D9F8-D2F8-412B-8467-F3A1A6B4A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1409699"/>
            <a:ext cx="5600700" cy="2019301"/>
          </a:xfrm>
        </p:spPr>
        <p:txBody>
          <a:bodyPr tIns="0" anchor="t"/>
          <a:lstStyle>
            <a:lvl1pPr>
              <a:lnSpc>
                <a:spcPct val="80000"/>
              </a:lnSpc>
              <a:defRPr sz="4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4BA69-0C36-44D3-95D1-C81223694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3848101"/>
            <a:ext cx="5600700" cy="2019300"/>
          </a:xfrm>
        </p:spPr>
        <p:txBody>
          <a:bodyPr tIns="182880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446BA-0FD3-4FFF-B220-7298D3F88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B94EC18-1D2B-4535-B738-0E53AFE26620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0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72">
          <p15:clr>
            <a:srgbClr val="FBAE40"/>
          </p15:clr>
        </p15:guide>
        <p15:guide id="2" pos="559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409701"/>
            <a:ext cx="5372100" cy="4457700"/>
          </a:xfrm>
        </p:spPr>
        <p:txBody>
          <a:bodyPr/>
          <a:lstStyle>
            <a:lvl1pPr marL="457200" indent="-457200">
              <a:spcBef>
                <a:spcPts val="600"/>
              </a:spcBef>
              <a:buClr>
                <a:schemeClr val="accent1"/>
              </a:buClr>
              <a:buFont typeface="+mj-lt"/>
              <a:buAutoNum type="arabicPeriod"/>
              <a:defRPr sz="2400"/>
            </a:lvl1pPr>
            <a:lvl2pPr marL="457200" indent="0">
              <a:defRPr sz="2400"/>
            </a:lvl2pPr>
            <a:lvl3pPr marL="685800" indent="-228600">
              <a:defRPr sz="2000"/>
            </a:lvl3pPr>
            <a:lvl4pPr marL="1028700" indent="-228600">
              <a:defRPr sz="1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8955-D351-40C8-BFD4-82363559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Footer, Arial Bold 10pt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1AB863-6602-411C-B695-D0F3F747308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409701"/>
            <a:ext cx="5372100" cy="4457700"/>
          </a:xfrm>
        </p:spPr>
        <p:txBody>
          <a:bodyPr/>
          <a:lstStyle>
            <a:lvl1pPr marL="457200" indent="-457200">
              <a:spcBef>
                <a:spcPts val="600"/>
              </a:spcBef>
              <a:buClr>
                <a:schemeClr val="accent1"/>
              </a:buClr>
              <a:buFont typeface="+mj-lt"/>
              <a:buAutoNum type="arabicPeriod"/>
              <a:defRPr sz="2400"/>
            </a:lvl1pPr>
            <a:lvl2pPr marL="457200" indent="0">
              <a:defRPr sz="2400"/>
            </a:lvl2pPr>
            <a:lvl3pPr marL="685800" indent="-228600">
              <a:defRPr sz="2000"/>
            </a:lvl3pPr>
            <a:lvl4pPr marL="1028700" indent="-228600">
              <a:defRPr sz="1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756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696">
          <p15:clr>
            <a:srgbClr val="FBAE40"/>
          </p15:clr>
        </p15:guide>
        <p15:guide id="3" pos="398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XL Content Gra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99" y="495300"/>
            <a:ext cx="8382001" cy="5372100"/>
          </a:xfrm>
        </p:spPr>
        <p:txBody>
          <a:bodyPr tIns="0"/>
          <a:lstStyle>
            <a:lvl1pPr>
              <a:lnSpc>
                <a:spcPct val="80000"/>
              </a:lnSpc>
              <a:defRPr sz="8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8955-D351-40C8-BFD4-82363559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Footer, Arial Bold 10pt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B94EC18-1D2B-4535-B738-0E53AFE26620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6323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5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Cont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99" y="495300"/>
            <a:ext cx="5372101" cy="5372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C99F7BE-26E0-43EC-B648-2436C3A3F9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4600" y="0"/>
            <a:ext cx="5867400" cy="68580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8955-D351-40C8-BFD4-82363559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Footer, Arial Bold 10pt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B94EC18-1D2B-4535-B738-0E53AFE26620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829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96" userDrawn="1">
          <p15:clr>
            <a:srgbClr val="FBAE40"/>
          </p15:clr>
        </p15:guide>
        <p15:guide id="2" pos="398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Cont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99" y="495300"/>
            <a:ext cx="5372101" cy="53721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C99F7BE-26E0-43EC-B648-2436C3A3F9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4600" y="0"/>
            <a:ext cx="5867400" cy="68580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8955-D351-40C8-BFD4-82363559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Footer, Arial Bold 10pt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B94EC18-1D2B-4535-B738-0E53AFE26620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526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96">
          <p15:clr>
            <a:srgbClr val="FBAE40"/>
          </p15:clr>
        </p15:guide>
        <p15:guide id="2" pos="398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8955-D351-40C8-BFD4-82363559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Footer, Arial Bold 10pt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50F7696B-AED7-4649-B1BE-83104AF7ADDD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-1" y="5867400"/>
            <a:ext cx="12192000" cy="495299"/>
          </a:xfrm>
          <a:solidFill>
            <a:srgbClr val="DC202E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 dirty="0"/>
              <a:t>Key Takeaway Text</a:t>
            </a:r>
          </a:p>
        </p:txBody>
      </p:sp>
    </p:spTree>
    <p:extLst>
      <p:ext uri="{BB962C8B-B14F-4D97-AF65-F5344CB8AC3E}">
        <p14:creationId xmlns:p14="http://schemas.microsoft.com/office/powerpoint/2010/main" val="34740146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409701"/>
            <a:ext cx="5372100" cy="4457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8955-D351-40C8-BFD4-82363559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Footer, Arial Bold 10pt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1AB863-6602-411C-B695-D0F3F747308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409701"/>
            <a:ext cx="5372100" cy="4457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D0DF29E-4A6C-4505-AA49-6B64388E1397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-1" y="5867400"/>
            <a:ext cx="12192000" cy="495299"/>
          </a:xfrm>
          <a:solidFill>
            <a:schemeClr val="accent1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 dirty="0"/>
              <a:t>Key Takeaway Text</a:t>
            </a:r>
          </a:p>
        </p:txBody>
      </p:sp>
    </p:spTree>
    <p:extLst>
      <p:ext uri="{BB962C8B-B14F-4D97-AF65-F5344CB8AC3E}">
        <p14:creationId xmlns:p14="http://schemas.microsoft.com/office/powerpoint/2010/main" val="4115104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696" userDrawn="1">
          <p15:clr>
            <a:srgbClr val="FBAE40"/>
          </p15:clr>
        </p15:guide>
        <p15:guide id="3" pos="398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+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409701"/>
            <a:ext cx="5372100" cy="44576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8955-D351-40C8-BFD4-82363559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Footer, Arial Bold 10pt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CF9CDEF-0719-484F-8C20-787B9E5CF7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4600" y="1409700"/>
            <a:ext cx="5372100" cy="44577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064076E-2966-4D1B-8F30-6885CA148AF4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-1" y="5867400"/>
            <a:ext cx="12192000" cy="495299"/>
          </a:xfrm>
          <a:solidFill>
            <a:schemeClr val="accent1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 dirty="0"/>
              <a:t>Key Takeaway Text</a:t>
            </a:r>
          </a:p>
        </p:txBody>
      </p:sp>
    </p:spTree>
    <p:extLst>
      <p:ext uri="{BB962C8B-B14F-4D97-AF65-F5344CB8AC3E}">
        <p14:creationId xmlns:p14="http://schemas.microsoft.com/office/powerpoint/2010/main" val="833064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696">
          <p15:clr>
            <a:srgbClr val="FBAE40"/>
          </p15:clr>
        </p15:guide>
        <p15:guide id="3" pos="398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8955-D351-40C8-BFD4-82363559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Footer, Arial Bold 10pt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39F757B-7399-47EF-8C93-6F4A6410845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95300" y="3886200"/>
            <a:ext cx="5372100" cy="19811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9B1BC2-D1BF-4967-9DEB-0E2180966050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322327" y="3886200"/>
            <a:ext cx="5372100" cy="19811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B930328-96E9-4581-AB46-BC006A6DBD5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95300" y="1409700"/>
            <a:ext cx="5372100" cy="22479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A25C2411-148E-4C87-B0DD-41761ACB22C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24600" y="1409700"/>
            <a:ext cx="5372100" cy="22479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55B90B35-A8E2-43F4-9EE2-F7A3C794C84F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-1" y="5867400"/>
            <a:ext cx="12192000" cy="495300"/>
          </a:xfrm>
          <a:solidFill>
            <a:schemeClr val="accent1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 dirty="0"/>
              <a:t>Key Takeaway Text</a:t>
            </a:r>
          </a:p>
        </p:txBody>
      </p:sp>
    </p:spTree>
    <p:extLst>
      <p:ext uri="{BB962C8B-B14F-4D97-AF65-F5344CB8AC3E}">
        <p14:creationId xmlns:p14="http://schemas.microsoft.com/office/powerpoint/2010/main" val="846821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696">
          <p15:clr>
            <a:srgbClr val="FBAE40"/>
          </p15:clr>
        </p15:guide>
        <p15:guide id="3" pos="3984">
          <p15:clr>
            <a:srgbClr val="FBAE40"/>
          </p15:clr>
        </p15:guide>
        <p15:guide id="4" orient="horz" pos="244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409701"/>
            <a:ext cx="3429000" cy="4457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8955-D351-40C8-BFD4-82363559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Footer, Arial Bold 10pt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1AB863-6602-411C-B695-D0F3F747308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81534" y="1409701"/>
            <a:ext cx="3429000" cy="4457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D0612F8-8A1A-4C2A-A93C-441DEDF8E28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67768" y="1409701"/>
            <a:ext cx="3429000" cy="4457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89AC965-3DBE-47AE-81C0-8C23B370263F}"/>
              </a:ext>
            </a:extLst>
          </p:cNvPr>
          <p:cNvCxnSpPr/>
          <p:nvPr userDrawn="1"/>
        </p:nvCxnSpPr>
        <p:spPr>
          <a:xfrm>
            <a:off x="4152917" y="1410880"/>
            <a:ext cx="0" cy="446227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5B345D-6ECD-4B25-B741-D306ED291B90}"/>
              </a:ext>
            </a:extLst>
          </p:cNvPr>
          <p:cNvCxnSpPr/>
          <p:nvPr userDrawn="1"/>
        </p:nvCxnSpPr>
        <p:spPr>
          <a:xfrm>
            <a:off x="8039151" y="1410881"/>
            <a:ext cx="0" cy="446227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C697456D-818A-4FA7-9322-10ECC2C05752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-1" y="5873154"/>
            <a:ext cx="12192000" cy="489546"/>
          </a:xfrm>
          <a:solidFill>
            <a:schemeClr val="accent1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 dirty="0"/>
              <a:t>Key Takeaway Text</a:t>
            </a:r>
          </a:p>
        </p:txBody>
      </p:sp>
    </p:spTree>
    <p:extLst>
      <p:ext uri="{BB962C8B-B14F-4D97-AF65-F5344CB8AC3E}">
        <p14:creationId xmlns:p14="http://schemas.microsoft.com/office/powerpoint/2010/main" val="1728260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+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3886200"/>
            <a:ext cx="3429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8955-D351-40C8-BFD4-82363559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Footer, Arial Bold 10pt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1AB863-6602-411C-B695-D0F3F747308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81534" y="3886200"/>
            <a:ext cx="3429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D0612F8-8A1A-4C2A-A93C-441DEDF8E28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67768" y="3886200"/>
            <a:ext cx="3429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DE1C42F-82A3-49D7-9B58-607C4E4D58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5300" y="1409700"/>
            <a:ext cx="3429000" cy="22479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622D68AC-932E-4B0C-90A5-71EE23ACE46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81534" y="1409700"/>
            <a:ext cx="3429000" cy="22479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D1A7CD19-76F6-4CBE-B54D-93302EA79B1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67700" y="1409700"/>
            <a:ext cx="3429000" cy="22479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4CAE0181-37B5-43E5-A82A-CDD053C29C6C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-1" y="5867400"/>
            <a:ext cx="12192000" cy="495299"/>
          </a:xfrm>
          <a:solidFill>
            <a:schemeClr val="accent1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 dirty="0"/>
              <a:t>Key Takeaway Text</a:t>
            </a:r>
          </a:p>
        </p:txBody>
      </p:sp>
    </p:spTree>
    <p:extLst>
      <p:ext uri="{BB962C8B-B14F-4D97-AF65-F5344CB8AC3E}">
        <p14:creationId xmlns:p14="http://schemas.microsoft.com/office/powerpoint/2010/main" val="14067114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48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409701"/>
            <a:ext cx="2459736" cy="4457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8955-D351-40C8-BFD4-82363559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Footer, Arial Bold 10pt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1AB863-6602-411C-B695-D0F3F747308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409238" y="1409701"/>
            <a:ext cx="2459736" cy="4457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D0612F8-8A1A-4C2A-A93C-441DEDF8E28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323176" y="1409701"/>
            <a:ext cx="2459736" cy="4457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C3999C7-E763-4050-BC0E-E9090F84780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237112" y="1409701"/>
            <a:ext cx="2459736" cy="4457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38375F-017C-4D3C-98B0-0B49D2AAE3BA}"/>
              </a:ext>
            </a:extLst>
          </p:cNvPr>
          <p:cNvCxnSpPr/>
          <p:nvPr userDrawn="1"/>
        </p:nvCxnSpPr>
        <p:spPr>
          <a:xfrm>
            <a:off x="3182137" y="1410880"/>
            <a:ext cx="0" cy="446227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B52EB66-0BC5-4D65-9873-7791F0C2A2E0}"/>
              </a:ext>
            </a:extLst>
          </p:cNvPr>
          <p:cNvCxnSpPr/>
          <p:nvPr userDrawn="1"/>
        </p:nvCxnSpPr>
        <p:spPr>
          <a:xfrm>
            <a:off x="6096075" y="1410880"/>
            <a:ext cx="0" cy="446227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3A66CFF-0E1D-4769-AC5A-FFCF982704C6}"/>
              </a:ext>
            </a:extLst>
          </p:cNvPr>
          <p:cNvCxnSpPr/>
          <p:nvPr userDrawn="1"/>
        </p:nvCxnSpPr>
        <p:spPr>
          <a:xfrm>
            <a:off x="9010013" y="1410880"/>
            <a:ext cx="0" cy="446227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90AB464-576C-4A33-966B-DD17FE4C4181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-1" y="5867400"/>
            <a:ext cx="12192000" cy="495299"/>
          </a:xfrm>
          <a:solidFill>
            <a:schemeClr val="accent1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 dirty="0"/>
              <a:t>Key Takeaway Text</a:t>
            </a:r>
          </a:p>
        </p:txBody>
      </p:sp>
    </p:spTree>
    <p:extLst>
      <p:ext uri="{BB962C8B-B14F-4D97-AF65-F5344CB8AC3E}">
        <p14:creationId xmlns:p14="http://schemas.microsoft.com/office/powerpoint/2010/main" val="31740245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+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3657600"/>
            <a:ext cx="2459736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8955-D351-40C8-BFD4-82363559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Footer, Arial Bold 10pt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1AB863-6602-411C-B695-D0F3F747308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409237" y="3657600"/>
            <a:ext cx="2459736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D0612F8-8A1A-4C2A-A93C-441DEDF8E28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323174" y="3657600"/>
            <a:ext cx="2459736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C3999C7-E763-4050-BC0E-E9090F84780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237112" y="3657600"/>
            <a:ext cx="2459736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632F1BF-A417-46F5-A2B0-EE338C9464D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95300" y="1409700"/>
            <a:ext cx="2459038" cy="20193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B664EC32-C8D7-4696-8955-D27860B1160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09935" y="1409700"/>
            <a:ext cx="2459038" cy="20193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7BC96BB2-8963-4074-99F2-2BEB65D70F6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323872" y="1409700"/>
            <a:ext cx="2459038" cy="20193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3FAAAD28-DA69-4AAE-9FAD-9F27417572F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237112" y="1409700"/>
            <a:ext cx="2459038" cy="20193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230F8805-7C7A-42C7-AA78-A838FC7ADE60}"/>
              </a:ext>
            </a:extLst>
          </p:cNvPr>
          <p:cNvSpPr>
            <a:spLocks noGrp="1" noChangeAspect="1"/>
          </p:cNvSpPr>
          <p:nvPr>
            <p:ph type="body" sz="quarter" idx="20" hasCustomPrompt="1"/>
          </p:nvPr>
        </p:nvSpPr>
        <p:spPr>
          <a:xfrm>
            <a:off x="-1" y="5867400"/>
            <a:ext cx="12192000" cy="495299"/>
          </a:xfrm>
          <a:solidFill>
            <a:schemeClr val="accent1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 dirty="0"/>
              <a:t>Key Takeaway Text</a:t>
            </a:r>
          </a:p>
        </p:txBody>
      </p:sp>
    </p:spTree>
    <p:extLst>
      <p:ext uri="{BB962C8B-B14F-4D97-AF65-F5344CB8AC3E}">
        <p14:creationId xmlns:p14="http://schemas.microsoft.com/office/powerpoint/2010/main" val="28805256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411006"/>
            <a:ext cx="5372100" cy="20208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8955-D351-40C8-BFD4-82363559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Footer, Arial Bold 10pt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1AB863-6602-411C-B695-D0F3F747308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411006"/>
            <a:ext cx="5372100" cy="20208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39F757B-7399-47EF-8C93-6F4A6410845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95300" y="3844171"/>
            <a:ext cx="5372100" cy="20208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9B1BC2-D1BF-4967-9DEB-0E2180966050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324600" y="3844171"/>
            <a:ext cx="5372100" cy="20208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FA7B3DE-C704-4D6A-9148-C2EE51AB9559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-1" y="5864996"/>
            <a:ext cx="12192000" cy="497704"/>
          </a:xfrm>
          <a:solidFill>
            <a:schemeClr val="accent1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 dirty="0"/>
              <a:t>Key Takeaway Text</a:t>
            </a:r>
          </a:p>
        </p:txBody>
      </p:sp>
    </p:spTree>
    <p:extLst>
      <p:ext uri="{BB962C8B-B14F-4D97-AF65-F5344CB8AC3E}">
        <p14:creationId xmlns:p14="http://schemas.microsoft.com/office/powerpoint/2010/main" val="189325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696">
          <p15:clr>
            <a:srgbClr val="FBAE40"/>
          </p15:clr>
        </p15:guide>
        <p15:guide id="3" pos="398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teen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5300" y="1412104"/>
            <a:ext cx="2459736" cy="78638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8955-D351-40C8-BFD4-82363559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Footer, Arial Bold 10pt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1AB863-6602-411C-B695-D0F3F747308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324600" y="1412104"/>
            <a:ext cx="2459736" cy="78638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39F757B-7399-47EF-8C93-6F4A6410845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95300" y="5080223"/>
            <a:ext cx="2459736" cy="78638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9B1BC2-D1BF-4967-9DEB-0E218096605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322327" y="5080223"/>
            <a:ext cx="2459736" cy="78638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F7EE7B8-7423-490B-A1BE-0DDF87E6EC61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-1" y="5867400"/>
            <a:ext cx="12192000" cy="495299"/>
          </a:xfrm>
          <a:solidFill>
            <a:schemeClr val="accent1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 dirty="0"/>
              <a:t>Key Takeaway Text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266E99-6D42-417C-A216-84A2B3B715ED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407664" y="1412104"/>
            <a:ext cx="2459736" cy="78638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54589B4-7F05-4C7A-A2EE-48FB0A13E0D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236964" y="1412104"/>
            <a:ext cx="2459736" cy="78638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2E9B699-079A-4F7A-A636-380F36093446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407664" y="5080223"/>
            <a:ext cx="2459736" cy="78638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401885D-5D62-448F-BC24-63F385C48568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9236964" y="5080223"/>
            <a:ext cx="2459736" cy="78638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7257D68F-E97D-4F92-A3D3-D1503CB5DE64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495299" y="2634810"/>
            <a:ext cx="2459038" cy="786384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7" name="Chart Placeholder 6">
            <a:extLst>
              <a:ext uri="{FF2B5EF4-FFF2-40B4-BE49-F238E27FC236}">
                <a16:creationId xmlns:a16="http://schemas.microsoft.com/office/drawing/2014/main" id="{3B3B5C6B-85C1-4026-8D2C-B5C2CE44A5D5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3409341" y="2634810"/>
            <a:ext cx="2459038" cy="786384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8" name="Chart Placeholder 6">
            <a:extLst>
              <a:ext uri="{FF2B5EF4-FFF2-40B4-BE49-F238E27FC236}">
                <a16:creationId xmlns:a16="http://schemas.microsoft.com/office/drawing/2014/main" id="{9950548D-185E-4E8F-ACC1-7147F8753B87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323383" y="2634810"/>
            <a:ext cx="2459038" cy="786384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9" name="Chart Placeholder 6">
            <a:extLst>
              <a:ext uri="{FF2B5EF4-FFF2-40B4-BE49-F238E27FC236}">
                <a16:creationId xmlns:a16="http://schemas.microsoft.com/office/drawing/2014/main" id="{E621986D-B207-419E-8DB3-B0A4BB23DA35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9237662" y="2634810"/>
            <a:ext cx="2459038" cy="786384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0" name="Chart Placeholder 6">
            <a:extLst>
              <a:ext uri="{FF2B5EF4-FFF2-40B4-BE49-F238E27FC236}">
                <a16:creationId xmlns:a16="http://schemas.microsoft.com/office/drawing/2014/main" id="{4F23C499-BF0D-4A23-948D-7CF2255178FF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495299" y="3857516"/>
            <a:ext cx="2459038" cy="786384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1" name="Chart Placeholder 6">
            <a:extLst>
              <a:ext uri="{FF2B5EF4-FFF2-40B4-BE49-F238E27FC236}">
                <a16:creationId xmlns:a16="http://schemas.microsoft.com/office/drawing/2014/main" id="{86A17512-7EDD-4F1A-A28C-60AEB3A2B060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3409341" y="3857516"/>
            <a:ext cx="2459038" cy="786384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2" name="Chart Placeholder 6">
            <a:extLst>
              <a:ext uri="{FF2B5EF4-FFF2-40B4-BE49-F238E27FC236}">
                <a16:creationId xmlns:a16="http://schemas.microsoft.com/office/drawing/2014/main" id="{565C587C-501C-4648-B14F-7472AC051890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6323383" y="3857516"/>
            <a:ext cx="2459038" cy="786384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3" name="Chart Placeholder 6">
            <a:extLst>
              <a:ext uri="{FF2B5EF4-FFF2-40B4-BE49-F238E27FC236}">
                <a16:creationId xmlns:a16="http://schemas.microsoft.com/office/drawing/2014/main" id="{1EA84FC4-84EB-4A41-846C-1EEBF8A54C82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9237662" y="3857516"/>
            <a:ext cx="2459038" cy="786384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1585972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696">
          <p15:clr>
            <a:srgbClr val="FBAE40"/>
          </p15:clr>
        </p15:guide>
        <p15:guide id="3" pos="398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3538A-4A54-4A25-9BD2-E79855D6A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7C14D-9EED-4F3B-9141-0F2882919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Footer, Arial Bold 10pt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D08997-B423-407B-B60D-8D5DFC37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9D64B098-3BC3-46B7-9278-55E699AD37C8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-1" y="5867400"/>
            <a:ext cx="12192000" cy="495299"/>
          </a:xfrm>
          <a:solidFill>
            <a:schemeClr val="accent1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 dirty="0"/>
              <a:t>Key Takeaway Text</a:t>
            </a:r>
          </a:p>
        </p:txBody>
      </p:sp>
    </p:spTree>
    <p:extLst>
      <p:ext uri="{BB962C8B-B14F-4D97-AF65-F5344CB8AC3E}">
        <p14:creationId xmlns:p14="http://schemas.microsoft.com/office/powerpoint/2010/main" val="5781990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9AAC5D-D7D8-42DB-BA4B-6CDFC5FAF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Footer, Arial Bold 10pt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549D9-CB0B-4053-B4B8-18A9A6E34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95A6AF-DA14-4AA2-80B8-C7ACE12804ED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-1" y="5867400"/>
            <a:ext cx="12192000" cy="495299"/>
          </a:xfrm>
          <a:solidFill>
            <a:schemeClr val="accent1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 dirty="0"/>
              <a:t>Key Takeaway Text</a:t>
            </a:r>
          </a:p>
        </p:txBody>
      </p:sp>
    </p:spTree>
    <p:extLst>
      <p:ext uri="{BB962C8B-B14F-4D97-AF65-F5344CB8AC3E}">
        <p14:creationId xmlns:p14="http://schemas.microsoft.com/office/powerpoint/2010/main" val="19906484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8955-D351-40C8-BFD4-82363559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Footer, Arial Bold 10pt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6894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409701"/>
            <a:ext cx="5372100" cy="4457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8955-D351-40C8-BFD4-82363559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Footer, Arial Bold 10pt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1AB863-6602-411C-B695-D0F3F747308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409701"/>
            <a:ext cx="5372100" cy="4457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63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696">
          <p15:clr>
            <a:srgbClr val="FBAE40"/>
          </p15:clr>
        </p15:guide>
        <p15:guide id="3" pos="398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+ Pic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409701"/>
            <a:ext cx="5372100" cy="44576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8955-D351-40C8-BFD4-82363559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Footer, Arial Bold 10pt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CF9CDEF-0719-484F-8C20-787B9E5CF7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4600" y="1409700"/>
            <a:ext cx="5372100" cy="44577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197345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696">
          <p15:clr>
            <a:srgbClr val="FBAE40"/>
          </p15:clr>
        </p15:guide>
        <p15:guide id="3" pos="398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Pics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8955-D351-40C8-BFD4-82363559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Footer, Arial Bold 10pt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39F757B-7399-47EF-8C93-6F4A6410845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95300" y="3886200"/>
            <a:ext cx="5372100" cy="19811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9B1BC2-D1BF-4967-9DEB-0E2180966050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322327" y="3886200"/>
            <a:ext cx="5372100" cy="19811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B930328-96E9-4581-AB46-BC006A6DBD5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95300" y="1409700"/>
            <a:ext cx="5372100" cy="22479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A25C2411-148E-4C87-B0DD-41761ACB22C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24600" y="1409700"/>
            <a:ext cx="5372100" cy="22479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25447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696">
          <p15:clr>
            <a:srgbClr val="FBAE40"/>
          </p15:clr>
        </p15:guide>
        <p15:guide id="3" pos="3984">
          <p15:clr>
            <a:srgbClr val="FBAE40"/>
          </p15:clr>
        </p15:guide>
        <p15:guide id="4" orient="horz" pos="2448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409701"/>
            <a:ext cx="3429000" cy="4457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8955-D351-40C8-BFD4-82363559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Footer, Arial Bold 10pt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1AB863-6602-411C-B695-D0F3F747308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81534" y="1409701"/>
            <a:ext cx="3429000" cy="4457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D0612F8-8A1A-4C2A-A93C-441DEDF8E28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67768" y="1409701"/>
            <a:ext cx="3429000" cy="4457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89AC965-3DBE-47AE-81C0-8C23B370263F}"/>
              </a:ext>
            </a:extLst>
          </p:cNvPr>
          <p:cNvCxnSpPr/>
          <p:nvPr userDrawn="1"/>
        </p:nvCxnSpPr>
        <p:spPr>
          <a:xfrm>
            <a:off x="4152917" y="1410880"/>
            <a:ext cx="0" cy="446227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5B345D-6ECD-4B25-B741-D306ED291B90}"/>
              </a:ext>
            </a:extLst>
          </p:cNvPr>
          <p:cNvCxnSpPr/>
          <p:nvPr userDrawn="1"/>
        </p:nvCxnSpPr>
        <p:spPr>
          <a:xfrm>
            <a:off x="8039151" y="1410881"/>
            <a:ext cx="0" cy="446227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60568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+ Pics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3886200"/>
            <a:ext cx="3429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8955-D351-40C8-BFD4-82363559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Footer, Arial Bold 10pt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1AB863-6602-411C-B695-D0F3F747308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81534" y="3886200"/>
            <a:ext cx="3429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D0612F8-8A1A-4C2A-A93C-441DEDF8E28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67768" y="3886200"/>
            <a:ext cx="3429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DE1C42F-82A3-49D7-9B58-607C4E4D58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5300" y="1409700"/>
            <a:ext cx="3429000" cy="22479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622D68AC-932E-4B0C-90A5-71EE23ACE46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81534" y="1409700"/>
            <a:ext cx="3429000" cy="22479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D1A7CD19-76F6-4CBE-B54D-93302EA79B1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67700" y="1409700"/>
            <a:ext cx="3429000" cy="22479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69828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409701"/>
            <a:ext cx="2459736" cy="4457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8955-D351-40C8-BFD4-82363559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Footer, Arial Bold 10pt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1AB863-6602-411C-B695-D0F3F747308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409238" y="1409701"/>
            <a:ext cx="2459736" cy="4457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D0612F8-8A1A-4C2A-A93C-441DEDF8E28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323176" y="1409701"/>
            <a:ext cx="2459736" cy="4457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C3999C7-E763-4050-BC0E-E9090F84780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237112" y="1409701"/>
            <a:ext cx="2459736" cy="4457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38375F-017C-4D3C-98B0-0B49D2AAE3BA}"/>
              </a:ext>
            </a:extLst>
          </p:cNvPr>
          <p:cNvCxnSpPr/>
          <p:nvPr userDrawn="1"/>
        </p:nvCxnSpPr>
        <p:spPr>
          <a:xfrm>
            <a:off x="3182137" y="1410880"/>
            <a:ext cx="0" cy="446227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B52EB66-0BC5-4D65-9873-7791F0C2A2E0}"/>
              </a:ext>
            </a:extLst>
          </p:cNvPr>
          <p:cNvCxnSpPr/>
          <p:nvPr userDrawn="1"/>
        </p:nvCxnSpPr>
        <p:spPr>
          <a:xfrm>
            <a:off x="6096075" y="1410880"/>
            <a:ext cx="0" cy="446227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3A66CFF-0E1D-4769-AC5A-FFCF982704C6}"/>
              </a:ext>
            </a:extLst>
          </p:cNvPr>
          <p:cNvCxnSpPr/>
          <p:nvPr userDrawn="1"/>
        </p:nvCxnSpPr>
        <p:spPr>
          <a:xfrm>
            <a:off x="9010013" y="1410880"/>
            <a:ext cx="0" cy="446227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17889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+ Pics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3657600"/>
            <a:ext cx="2459736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8955-D351-40C8-BFD4-82363559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Footer, Arial Bold 10pt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1AB863-6602-411C-B695-D0F3F747308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409237" y="3657600"/>
            <a:ext cx="2459736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D0612F8-8A1A-4C2A-A93C-441DEDF8E28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323174" y="3657600"/>
            <a:ext cx="2459736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C3999C7-E763-4050-BC0E-E9090F84780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237112" y="3657600"/>
            <a:ext cx="2459736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632F1BF-A417-46F5-A2B0-EE338C9464D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95300" y="1409700"/>
            <a:ext cx="2459038" cy="20193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B664EC32-C8D7-4696-8955-D27860B1160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09935" y="1409700"/>
            <a:ext cx="2459038" cy="20193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7BC96BB2-8963-4074-99F2-2BEB65D70F6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323872" y="1409700"/>
            <a:ext cx="2459038" cy="20193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3FAAAD28-DA69-4AAE-9FAD-9F27417572F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237112" y="1409700"/>
            <a:ext cx="2459038" cy="20193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047161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2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411006"/>
            <a:ext cx="5372100" cy="20208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8955-D351-40C8-BFD4-82363559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Footer, Arial Bold 10pt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1AB863-6602-411C-B695-D0F3F747308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411006"/>
            <a:ext cx="5372100" cy="20208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39F757B-7399-47EF-8C93-6F4A6410845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95300" y="3844171"/>
            <a:ext cx="5372100" cy="20208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9B1BC2-D1BF-4967-9DEB-0E2180966050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324600" y="3844171"/>
            <a:ext cx="5372100" cy="20208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321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696">
          <p15:clr>
            <a:srgbClr val="FBAE40"/>
          </p15:clr>
        </p15:guide>
        <p15:guide id="3" pos="398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teen Content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5300" y="1412104"/>
            <a:ext cx="2459736" cy="78638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8955-D351-40C8-BFD4-82363559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Footer, Arial Bold 10pt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1AB863-6602-411C-B695-D0F3F747308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324600" y="1412104"/>
            <a:ext cx="2459736" cy="78638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39F757B-7399-47EF-8C93-6F4A6410845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95300" y="5080223"/>
            <a:ext cx="2459736" cy="78638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9B1BC2-D1BF-4967-9DEB-0E218096605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322327" y="5080223"/>
            <a:ext cx="2459736" cy="78638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266E99-6D42-417C-A216-84A2B3B715ED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407664" y="1412104"/>
            <a:ext cx="2459736" cy="78638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54589B4-7F05-4C7A-A2EE-48FB0A13E0D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236964" y="1412104"/>
            <a:ext cx="2459736" cy="78638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2E9B699-079A-4F7A-A636-380F36093446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407664" y="5080223"/>
            <a:ext cx="2459736" cy="78638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401885D-5D62-448F-BC24-63F385C48568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9236964" y="5080223"/>
            <a:ext cx="2459736" cy="78638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7257D68F-E97D-4F92-A3D3-D1503CB5DE64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495299" y="2634810"/>
            <a:ext cx="2459038" cy="786384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7" name="Chart Placeholder 6">
            <a:extLst>
              <a:ext uri="{FF2B5EF4-FFF2-40B4-BE49-F238E27FC236}">
                <a16:creationId xmlns:a16="http://schemas.microsoft.com/office/drawing/2014/main" id="{3B3B5C6B-85C1-4026-8D2C-B5C2CE44A5D5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3409341" y="2634810"/>
            <a:ext cx="2459038" cy="786384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8" name="Chart Placeholder 6">
            <a:extLst>
              <a:ext uri="{FF2B5EF4-FFF2-40B4-BE49-F238E27FC236}">
                <a16:creationId xmlns:a16="http://schemas.microsoft.com/office/drawing/2014/main" id="{9950548D-185E-4E8F-ACC1-7147F8753B87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323383" y="2634810"/>
            <a:ext cx="2459038" cy="786384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9" name="Chart Placeholder 6">
            <a:extLst>
              <a:ext uri="{FF2B5EF4-FFF2-40B4-BE49-F238E27FC236}">
                <a16:creationId xmlns:a16="http://schemas.microsoft.com/office/drawing/2014/main" id="{E621986D-B207-419E-8DB3-B0A4BB23DA35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9237662" y="2634810"/>
            <a:ext cx="2459038" cy="786384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0" name="Chart Placeholder 6">
            <a:extLst>
              <a:ext uri="{FF2B5EF4-FFF2-40B4-BE49-F238E27FC236}">
                <a16:creationId xmlns:a16="http://schemas.microsoft.com/office/drawing/2014/main" id="{4F23C499-BF0D-4A23-948D-7CF2255178FF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495299" y="3857516"/>
            <a:ext cx="2459038" cy="786384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1" name="Chart Placeholder 6">
            <a:extLst>
              <a:ext uri="{FF2B5EF4-FFF2-40B4-BE49-F238E27FC236}">
                <a16:creationId xmlns:a16="http://schemas.microsoft.com/office/drawing/2014/main" id="{86A17512-7EDD-4F1A-A28C-60AEB3A2B060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3409341" y="3857516"/>
            <a:ext cx="2459038" cy="786384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2" name="Chart Placeholder 6">
            <a:extLst>
              <a:ext uri="{FF2B5EF4-FFF2-40B4-BE49-F238E27FC236}">
                <a16:creationId xmlns:a16="http://schemas.microsoft.com/office/drawing/2014/main" id="{565C587C-501C-4648-B14F-7472AC051890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6323383" y="3857516"/>
            <a:ext cx="2459038" cy="786384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3" name="Chart Placeholder 6">
            <a:extLst>
              <a:ext uri="{FF2B5EF4-FFF2-40B4-BE49-F238E27FC236}">
                <a16:creationId xmlns:a16="http://schemas.microsoft.com/office/drawing/2014/main" id="{1EA84FC4-84EB-4A41-846C-1EEBF8A54C82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9237662" y="3857516"/>
            <a:ext cx="2459038" cy="786384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2325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696">
          <p15:clr>
            <a:srgbClr val="FBAE40"/>
          </p15:clr>
        </p15:guide>
        <p15:guide id="3" pos="398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3538A-4A54-4A25-9BD2-E79855D6A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7C14D-9EED-4F3B-9141-0F2882919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Footer, Arial Bold 10pt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D08997-B423-407B-B60D-8D5DFC37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29822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9AAC5D-D7D8-42DB-BA4B-6CDFC5FAF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Footer, Arial Bold 10pt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549D9-CB0B-4053-B4B8-18A9A6E34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4072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 OF THE TEMPLA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703B52-DBF5-48FD-AB36-B36970177F1B}"/>
              </a:ext>
            </a:extLst>
          </p:cNvPr>
          <p:cNvSpPr txBox="1"/>
          <p:nvPr userDrawn="1"/>
        </p:nvSpPr>
        <p:spPr>
          <a:xfrm>
            <a:off x="4516170" y="2978965"/>
            <a:ext cx="3159659" cy="914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  <a:latin typeface="+mj-lt"/>
              </a:rPr>
              <a:t>END OF THE TEMPLATE</a:t>
            </a:r>
          </a:p>
        </p:txBody>
      </p:sp>
    </p:spTree>
    <p:extLst>
      <p:ext uri="{BB962C8B-B14F-4D97-AF65-F5344CB8AC3E}">
        <p14:creationId xmlns:p14="http://schemas.microsoft.com/office/powerpoint/2010/main" val="204937081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Cover Building_1 red logo ex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4B7949-6885-3537-112F-8B7965E9C8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8" cy="6857999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74AF780-9DA8-CD87-3030-3AB04C1A03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9288" y="1673998"/>
            <a:ext cx="9899766" cy="917781"/>
          </a:xfrm>
        </p:spPr>
        <p:txBody>
          <a:bodyPr anchor="b" anchorCtr="0"/>
          <a:lstStyle>
            <a:lvl1pPr algn="l" defTabSz="914400" rtl="0" eaLnBrk="1" latinLnBrk="0" hangingPunct="1">
              <a:lnSpc>
                <a:spcPts val="2600"/>
              </a:lnSpc>
              <a:spcBef>
                <a:spcPct val="0"/>
              </a:spcBef>
              <a:buNone/>
              <a:defRPr lang="en-US" sz="3000" b="1" i="0" kern="1200" spc="-150" dirty="0" smtClean="0">
                <a:solidFill>
                  <a:schemeClr val="bg1"/>
                </a:solidFill>
                <a:latin typeface="Arial Black" panose="020B0604020202020204" pitchFamily="34" charset="0"/>
                <a:ea typeface="+mj-ea"/>
                <a:cs typeface="+mj-cs"/>
              </a:defRPr>
            </a:lvl1pPr>
            <a:lvl2pPr marL="179387" indent="0" algn="l" defTabSz="914400" rtl="0" eaLnBrk="1" latinLnBrk="0" hangingPunct="1">
              <a:lnSpc>
                <a:spcPts val="3040"/>
              </a:lnSpc>
              <a:spcBef>
                <a:spcPct val="0"/>
              </a:spcBef>
              <a:buNone/>
              <a:defRPr lang="en-US" sz="3000" b="1" i="0" kern="1200" spc="-150" dirty="0" smtClean="0">
                <a:solidFill>
                  <a:schemeClr val="bg1"/>
                </a:solidFill>
                <a:latin typeface="Arial Black" panose="020B0604020202020204" pitchFamily="34" charset="0"/>
                <a:ea typeface="+mj-ea"/>
                <a:cs typeface="+mj-cs"/>
              </a:defRPr>
            </a:lvl2pPr>
            <a:lvl3pPr marL="520700" indent="0" algn="l" defTabSz="914400" rtl="0" eaLnBrk="1" latinLnBrk="0" hangingPunct="1">
              <a:lnSpc>
                <a:spcPts val="3040"/>
              </a:lnSpc>
              <a:spcBef>
                <a:spcPct val="0"/>
              </a:spcBef>
              <a:buNone/>
              <a:defRPr lang="en-US" sz="3000" b="1" i="0" kern="1200" spc="-150" dirty="0" smtClean="0">
                <a:solidFill>
                  <a:schemeClr val="bg1"/>
                </a:solidFill>
                <a:latin typeface="Arial Black" panose="020B0604020202020204" pitchFamily="34" charset="0"/>
                <a:ea typeface="+mj-ea"/>
                <a:cs typeface="+mj-cs"/>
              </a:defRPr>
            </a:lvl3pPr>
            <a:lvl4pPr marL="862012" indent="0" algn="l" defTabSz="914400" rtl="0" eaLnBrk="1" latinLnBrk="0" hangingPunct="1">
              <a:lnSpc>
                <a:spcPts val="3040"/>
              </a:lnSpc>
              <a:spcBef>
                <a:spcPct val="0"/>
              </a:spcBef>
              <a:buNone/>
              <a:defRPr lang="en-US" sz="3000" b="1" i="0" kern="1200" spc="-150" dirty="0" smtClean="0">
                <a:solidFill>
                  <a:schemeClr val="bg1"/>
                </a:solidFill>
                <a:latin typeface="Arial Black" panose="020B0604020202020204" pitchFamily="34" charset="0"/>
                <a:ea typeface="+mj-ea"/>
                <a:cs typeface="+mj-cs"/>
              </a:defRPr>
            </a:lvl4pPr>
            <a:lvl5pPr marL="1203325" indent="0" algn="l" defTabSz="914400" rtl="0" eaLnBrk="1" latinLnBrk="0" hangingPunct="1">
              <a:lnSpc>
                <a:spcPts val="3040"/>
              </a:lnSpc>
              <a:spcBef>
                <a:spcPct val="0"/>
              </a:spcBef>
              <a:buNone/>
              <a:defRPr lang="en-US" sz="3000" b="1" i="0" kern="1200" spc="-150" dirty="0">
                <a:solidFill>
                  <a:schemeClr val="bg1"/>
                </a:solidFill>
                <a:latin typeface="Arial Black" panose="020B0604020202020204" pitchFamily="34" charset="0"/>
                <a:ea typeface="+mj-ea"/>
                <a:cs typeface="+mj-cs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30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</a:p>
          <a:p>
            <a:pPr lvl="0"/>
            <a:r>
              <a:rPr lang="en-US"/>
              <a:t>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45CC45E3-67BC-1D08-E889-0FDBC8E292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0875" y="2862513"/>
            <a:ext cx="6366754" cy="357226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PROJECT DETAILS OR NAME OF PRESENTER </a:t>
            </a: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1CFCB434-0390-D6C6-32D2-37C53D4825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0875" y="3163984"/>
            <a:ext cx="6366754" cy="326956"/>
          </a:xfrm>
        </p:spPr>
        <p:txBody>
          <a:bodyPr/>
          <a:lstStyle>
            <a:lvl1pPr marL="0" indent="0">
              <a:buFontTx/>
              <a:buNone/>
              <a:defRPr sz="1600" b="0" i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DATE 00, 2020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BB2A47F-BFB3-8F7C-222C-EBACD6E0BB5F}"/>
              </a:ext>
            </a:extLst>
          </p:cNvPr>
          <p:cNvCxnSpPr>
            <a:cxnSpLocks/>
          </p:cNvCxnSpPr>
          <p:nvPr userDrawn="1"/>
        </p:nvCxnSpPr>
        <p:spPr>
          <a:xfrm>
            <a:off x="650875" y="2640213"/>
            <a:ext cx="465804" cy="0"/>
          </a:xfrm>
          <a:prstGeom prst="line">
            <a:avLst/>
          </a:prstGeom>
          <a:noFill/>
          <a:ln w="38100" cap="flat" cmpd="sng" algn="ctr">
            <a:solidFill>
              <a:schemeClr val="accent1"/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554920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84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4778819"/>
      </p:ext>
    </p:extLst>
  </p:cSld>
  <p:clrMapOvr>
    <a:masterClrMapping/>
  </p:clrMapOvr>
  <p:transition spd="med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299" y="1409700"/>
            <a:ext cx="11201401" cy="4297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E0990-9D0E-43C2-BC1A-0B219408F57D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50F7696B-AED7-4649-B1BE-83104AF7ADDD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-1" y="5867400"/>
            <a:ext cx="12192000" cy="495299"/>
          </a:xfrm>
          <a:solidFill>
            <a:srgbClr val="DC202E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/>
              <a:t>Key Takeaway Text</a:t>
            </a:r>
          </a:p>
        </p:txBody>
      </p:sp>
    </p:spTree>
    <p:extLst>
      <p:ext uri="{BB962C8B-B14F-4D97-AF65-F5344CB8AC3E}">
        <p14:creationId xmlns:p14="http://schemas.microsoft.com/office/powerpoint/2010/main" val="2634481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5431E2-DC1C-4926-9681-B5EB493C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99" y="495300"/>
            <a:ext cx="11201401" cy="4191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B30FB-4B8F-4B77-AC4C-E2E31B214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299" y="1409700"/>
            <a:ext cx="11201401" cy="44577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C61BD-1A56-4C96-8300-B2F24AEB8A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5299" y="6480164"/>
            <a:ext cx="1989109" cy="237617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1000" b="1">
                <a:solidFill>
                  <a:schemeClr val="accent3"/>
                </a:solidFill>
              </a:defRPr>
            </a:lvl1pPr>
          </a:lstStyle>
          <a:p>
            <a:r>
              <a:rPr lang="en-US"/>
              <a:t>Footer, Arial Bold 10pt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1868-C853-40C5-8660-D23F908B5B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9755" y="6480164"/>
            <a:ext cx="496945" cy="237617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0" b="1">
                <a:solidFill>
                  <a:schemeClr val="accent3"/>
                </a:solidFill>
              </a:defRPr>
            </a:lvl1pPr>
          </a:lstStyle>
          <a:p>
            <a:fld id="{7B94EC18-1D2B-4535-B738-0E53AFE26620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464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1" r:id="rId2"/>
    <p:sldLayoutId id="2147483675" r:id="rId3"/>
    <p:sldLayoutId id="2147483679" r:id="rId4"/>
    <p:sldLayoutId id="2147483651" r:id="rId5"/>
    <p:sldLayoutId id="2147483666" r:id="rId6"/>
    <p:sldLayoutId id="2147483667" r:id="rId7"/>
    <p:sldLayoutId id="2147483673" r:id="rId8"/>
    <p:sldLayoutId id="2147483674" r:id="rId9"/>
    <p:sldLayoutId id="2147483678" r:id="rId10"/>
    <p:sldLayoutId id="2147483665" r:id="rId11"/>
    <p:sldLayoutId id="2147483657" r:id="rId12"/>
    <p:sldLayoutId id="2147483670" r:id="rId13"/>
    <p:sldLayoutId id="2147483650" r:id="rId14"/>
    <p:sldLayoutId id="2147483656" r:id="rId15"/>
    <p:sldLayoutId id="2147483664" r:id="rId16"/>
    <p:sldLayoutId id="2147483661" r:id="rId17"/>
    <p:sldLayoutId id="2147483658" r:id="rId18"/>
    <p:sldLayoutId id="2147483662" r:id="rId19"/>
    <p:sldLayoutId id="2147483659" r:id="rId20"/>
    <p:sldLayoutId id="2147483663" r:id="rId21"/>
    <p:sldLayoutId id="2147483660" r:id="rId22"/>
    <p:sldLayoutId id="2147483681" r:id="rId23"/>
    <p:sldLayoutId id="2147483654" r:id="rId24"/>
    <p:sldLayoutId id="2147483655" r:id="rId25"/>
    <p:sldLayoutId id="2147483692" r:id="rId26"/>
    <p:sldLayoutId id="2147483693" r:id="rId27"/>
    <p:sldLayoutId id="2147483694" r:id="rId28"/>
    <p:sldLayoutId id="2147483695" r:id="rId29"/>
    <p:sldLayoutId id="2147483696" r:id="rId30"/>
    <p:sldLayoutId id="2147483697" r:id="rId31"/>
    <p:sldLayoutId id="2147483698" r:id="rId32"/>
    <p:sldLayoutId id="2147483699" r:id="rId33"/>
    <p:sldLayoutId id="2147483700" r:id="rId34"/>
    <p:sldLayoutId id="2147483701" r:id="rId35"/>
    <p:sldLayoutId id="2147483702" r:id="rId36"/>
    <p:sldLayoutId id="2147483703" r:id="rId37"/>
    <p:sldLayoutId id="2147483672" r:id="rId38"/>
    <p:sldLayoutId id="2147483705" r:id="rId39"/>
    <p:sldLayoutId id="2147483706" r:id="rId40"/>
    <p:sldLayoutId id="2147483708" r:id="rId4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Honeywell Sans" panose="02010503040101060203" pitchFamily="50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60375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800"/>
        </a:spcBef>
        <a:spcAft>
          <a:spcPts val="1000"/>
        </a:spcAft>
        <a:buFont typeface="Arial" panose="020B0604020202020204" pitchFamily="34" charset="0"/>
        <a:buNone/>
        <a:defRPr sz="2400" b="1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DE53C"/>
          </p15:clr>
        </p15:guide>
        <p15:guide id="2" pos="3840" userDrawn="1">
          <p15:clr>
            <a:srgbClr val="9FCC3B"/>
          </p15:clr>
        </p15:guide>
        <p15:guide id="3" orient="horz" pos="312" userDrawn="1">
          <p15:clr>
            <a:srgbClr val="9FCC3B"/>
          </p15:clr>
        </p15:guide>
        <p15:guide id="4" orient="horz" pos="4008" userDrawn="1">
          <p15:clr>
            <a:srgbClr val="FDE53C"/>
          </p15:clr>
        </p15:guide>
        <p15:guide id="6" pos="7368" userDrawn="1">
          <p15:clr>
            <a:srgbClr val="9FCC3B"/>
          </p15:clr>
        </p15:guide>
        <p15:guide id="7" orient="horz" pos="3696" userDrawn="1">
          <p15:clr>
            <a:srgbClr val="9FCC3B"/>
          </p15:clr>
        </p15:guide>
        <p15:guide id="9" orient="horz" pos="576" userDrawn="1">
          <p15:clr>
            <a:srgbClr val="9FCC3B"/>
          </p15:clr>
        </p15:guide>
        <p15:guide id="10" orient="horz" pos="888" userDrawn="1">
          <p15:clr>
            <a:srgbClr val="9FCC3B"/>
          </p15:clr>
        </p15:guide>
        <p15:guide id="11" orient="horz" pos="2304" userDrawn="1">
          <p15:clr>
            <a:srgbClr val="9FCC3B"/>
          </p15:clr>
        </p15:guide>
        <p15:guide id="12" userDrawn="1">
          <p15:clr>
            <a:srgbClr val="000000"/>
          </p15:clr>
        </p15:guide>
        <p15:guide id="13" pos="7680" userDrawn="1">
          <p15:clr>
            <a:srgbClr val="000000"/>
          </p15:clr>
        </p15:guide>
        <p15:guide id="14" orient="horz" userDrawn="1">
          <p15:clr>
            <a:srgbClr val="000000"/>
          </p15:clr>
        </p15:guide>
        <p15:guide id="15" orient="horz" pos="4320" userDrawn="1">
          <p15:clr>
            <a:srgbClr val="000000"/>
          </p15:clr>
        </p15:guide>
        <p15:guide id="16" pos="31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40.xml"/><Relationship Id="rId7" Type="http://schemas.openxmlformats.org/officeDocument/2006/relationships/image" Target="../media/image1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slideLayout" Target="../slideLayouts/slideLayout40.xml"/><Relationship Id="rId7" Type="http://schemas.openxmlformats.org/officeDocument/2006/relationships/image" Target="../media/image13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6.pn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Layout" Target="../slideLayouts/slideLayout40.xml"/><Relationship Id="rId7" Type="http://schemas.openxmlformats.org/officeDocument/2006/relationships/image" Target="../media/image17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20.png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slideLayout" Target="../slideLayouts/slideLayout40.xml"/><Relationship Id="rId7" Type="http://schemas.openxmlformats.org/officeDocument/2006/relationships/image" Target="../media/image21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slideLayout" Target="../slideLayouts/slideLayout40.xml"/><Relationship Id="rId7" Type="http://schemas.openxmlformats.org/officeDocument/2006/relationships/image" Target="../media/image23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slideLayout" Target="../slideLayouts/slideLayout40.xml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0.emf"/><Relationship Id="rId11" Type="http://schemas.openxmlformats.org/officeDocument/2006/relationships/image" Target="../media/image30.pn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29.png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0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slideLayout" Target="../slideLayouts/slideLayout40.xml"/><Relationship Id="rId7" Type="http://schemas.openxmlformats.org/officeDocument/2006/relationships/image" Target="../media/image41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C82FA27E-8CE6-467E-BCD3-6F273BC79CF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17144" y="1525"/>
            <a:ext cx="2441448" cy="2982884"/>
          </a:xfrm>
        </p:spPr>
      </p:pic>
      <p:pic>
        <p:nvPicPr>
          <p:cNvPr id="11" name="Picture Placeholder 15">
            <a:extLst>
              <a:ext uri="{FF2B5EF4-FFF2-40B4-BE49-F238E27FC236}">
                <a16:creationId xmlns:a16="http://schemas.microsoft.com/office/drawing/2014/main" id="{1C61B3BF-C7E8-4DD6-B15C-2ADAE4E8CC0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9750552" y="0"/>
            <a:ext cx="2441448" cy="2982884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C59A88-40BC-498F-A496-230917BC7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0" y="3429000"/>
            <a:ext cx="11201400" cy="1759687"/>
          </a:xfrm>
        </p:spPr>
        <p:txBody>
          <a:bodyPr/>
          <a:lstStyle/>
          <a:p>
            <a:r>
              <a:rPr lang="en-US" dirty="0" err="1">
                <a:solidFill>
                  <a:schemeClr val="accent1"/>
                </a:solidFill>
              </a:rPr>
              <a:t>Seleccion</a:t>
            </a:r>
            <a:r>
              <a:rPr lang="en-US" dirty="0">
                <a:solidFill>
                  <a:schemeClr val="accent1"/>
                </a:solidFill>
              </a:rPr>
              <a:t> de </a:t>
            </a:r>
            <a:r>
              <a:rPr lang="en-US" dirty="0" err="1">
                <a:solidFill>
                  <a:schemeClr val="accent1"/>
                </a:solidFill>
              </a:rPr>
              <a:t>portafolio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/>
              <a:t>expected shortfall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11C0E788-AFD7-4EC0-8FE6-CB4C956B4FD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8259" r="28259"/>
          <a:stretch>
            <a:fillRect/>
          </a:stretch>
        </p:blipFill>
        <p:spPr>
          <a:xfrm>
            <a:off x="4719099" y="0"/>
            <a:ext cx="2441575" cy="3009900"/>
          </a:xfrm>
          <a:prstGeom prst="rect">
            <a:avLst/>
          </a:prstGeom>
        </p:spPr>
      </p:pic>
      <p:sp>
        <p:nvSpPr>
          <p:cNvPr id="9" name="Subtitle 5">
            <a:extLst>
              <a:ext uri="{FF2B5EF4-FFF2-40B4-BE49-F238E27FC236}">
                <a16:creationId xmlns:a16="http://schemas.microsoft.com/office/drawing/2014/main" id="{BA5529BE-411A-49D2-A9B9-5A7844D7B5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38844" y="5692849"/>
            <a:ext cx="4257856" cy="952500"/>
          </a:xfrm>
        </p:spPr>
        <p:txBody>
          <a:bodyPr/>
          <a:lstStyle/>
          <a:p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Integrantes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CESAR LOPEZ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Roberto SANCHEZ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Max YUCRA</a:t>
            </a:r>
          </a:p>
        </p:txBody>
      </p:sp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A381FABE-AE7E-95E2-A371-63137F172449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722599" y="-2"/>
            <a:ext cx="2395728" cy="3009902"/>
          </a:xfrm>
        </p:spPr>
      </p:pic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0F7520C3-5E5A-D9E1-FB11-AFEB05EB8E46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16680" y="-2"/>
            <a:ext cx="2395728" cy="3009902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3DF64F-E0F5-8E50-580D-15D8C2FB3A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88" y="-1"/>
            <a:ext cx="4581271" cy="303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419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227CB-4216-6498-5DB5-7326F853D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BE21CF-C8C9-59E5-FADE-3DA93E9AD2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057" y="2662672"/>
            <a:ext cx="10206780" cy="2416739"/>
          </a:xfrm>
        </p:spPr>
        <p:txBody>
          <a:bodyPr/>
          <a:lstStyle/>
          <a:p>
            <a:r>
              <a:rPr lang="en-US" sz="4000" cap="all" dirty="0" err="1">
                <a:solidFill>
                  <a:srgbClr val="FF0000"/>
                </a:solidFill>
              </a:rPr>
              <a:t>objetivo</a:t>
            </a:r>
            <a:endParaRPr lang="en-US" sz="3600" cap="all" dirty="0">
              <a:solidFill>
                <a:srgbClr val="FF0000"/>
              </a:solidFill>
            </a:endParaRPr>
          </a:p>
          <a:p>
            <a:endParaRPr lang="en-US" cap="al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Analizar un portafolio de inversión integrado por 04 instrumentos financieros.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Usar simulaciones Monte Carlo fundamentadas en el modelo de movimiento browniano geométrico.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Evaluar los resultados obtenidos y generar las recomendaciones de inversión correspondientes.</a:t>
            </a:r>
          </a:p>
        </p:txBody>
      </p:sp>
    </p:spTree>
    <p:extLst>
      <p:ext uri="{BB962C8B-B14F-4D97-AF65-F5344CB8AC3E}">
        <p14:creationId xmlns:p14="http://schemas.microsoft.com/office/powerpoint/2010/main" val="2360033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59A88-40BC-498F-A496-230917BC7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299" y="1409699"/>
            <a:ext cx="11062291" cy="3757723"/>
          </a:xfrm>
        </p:spPr>
        <p:txBody>
          <a:bodyPr/>
          <a:lstStyle/>
          <a:p>
            <a:r>
              <a:rPr lang="en-US" dirty="0" err="1">
                <a:solidFill>
                  <a:srgbClr val="DC202E"/>
                </a:solidFill>
              </a:rPr>
              <a:t>introduccion</a:t>
            </a:r>
            <a:br>
              <a:rPr lang="en-US" dirty="0">
                <a:solidFill>
                  <a:schemeClr val="accent1"/>
                </a:solidFill>
              </a:rPr>
            </a:br>
            <a:br>
              <a:rPr lang="en-US" dirty="0">
                <a:solidFill>
                  <a:schemeClr val="accent1"/>
                </a:solidFill>
              </a:rPr>
            </a:br>
            <a:r>
              <a:rPr lang="es-ES" sz="2400" dirty="0"/>
              <a:t>• El péndulo doble es un sistema dinámico no lineal y caótico.</a:t>
            </a:r>
            <a:br>
              <a:rPr lang="es-ES" sz="2400" dirty="0"/>
            </a:br>
            <a:br>
              <a:rPr lang="es-ES" sz="2400" dirty="0"/>
            </a:br>
            <a:r>
              <a:rPr lang="es-ES" sz="2400" dirty="0"/>
              <a:t>• Pequeñas variaciones en condiciones iniciales producen grandes diferencias.</a:t>
            </a:r>
            <a:br>
              <a:rPr lang="es-ES" sz="2400" dirty="0"/>
            </a:br>
            <a:br>
              <a:rPr lang="es-ES" sz="2400" dirty="0"/>
            </a:br>
            <a:r>
              <a:rPr lang="es-ES" sz="2400" dirty="0"/>
              <a:t>• Se analiza el efecto del ruido estocástico en su evolución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B4516-1566-494F-AA64-237FAC172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4B254-2090-4DEC-BA04-48B68A4DE2DD}" type="datetime4">
              <a:rPr lang="en-US" smtClean="0"/>
              <a:t>January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418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1AA56-D441-5180-4A2F-C14003139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>
            <a:extLst>
              <a:ext uri="{FF2B5EF4-FFF2-40B4-BE49-F238E27FC236}">
                <a16:creationId xmlns:a16="http://schemas.microsoft.com/office/drawing/2014/main" id="{4910337B-6AE2-2FC7-86F1-73EB31F7326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192" y="85844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15" name="Object 14" hidden="1">
                        <a:extLst>
                          <a:ext uri="{FF2B5EF4-FFF2-40B4-BE49-F238E27FC236}">
                            <a16:creationId xmlns:a16="http://schemas.microsoft.com/office/drawing/2014/main" id="{4A348E8C-A2B8-3925-4166-5E46238FA0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25192" y="858442"/>
                        <a:ext cx="1190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42861EEB-6C8F-05EE-12EC-9CC9A2E10D7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514258" y="778283"/>
            <a:ext cx="138548" cy="276999"/>
          </a:xfrm>
          <a:prstGeom prst="rect">
            <a:avLst/>
          </a:prstGeom>
          <a:solidFill>
            <a:schemeClr val="lt1"/>
          </a:solidFill>
          <a:ln w="127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825" b="1">
              <a:solidFill>
                <a:srgbClr val="1792E5"/>
              </a:solidFill>
              <a:sym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504BF04-659B-38DC-46D8-D1B35DD9F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78" y="512529"/>
            <a:ext cx="11201401" cy="739748"/>
          </a:xfrm>
        </p:spPr>
        <p:txBody>
          <a:bodyPr/>
          <a:lstStyle/>
          <a:p>
            <a:pPr>
              <a:lnSpc>
                <a:spcPts val="2940"/>
              </a:lnSpc>
            </a:pPr>
            <a:r>
              <a:rPr lang="en-US" sz="2900" b="1" dirty="0">
                <a:latin typeface="Arial Black"/>
              </a:rPr>
              <a:t>EMPRESAS Y PERIODO DE ANALISIS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EE445F-6852-8AD0-AAFE-CE7C3E9CB9EB}"/>
              </a:ext>
            </a:extLst>
          </p:cNvPr>
          <p:cNvSpPr/>
          <p:nvPr/>
        </p:nvSpPr>
        <p:spPr>
          <a:xfrm>
            <a:off x="864079" y="1239680"/>
            <a:ext cx="1043694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/>
              <a:t>• Se seleccionan 04 empresas (BVL):</a:t>
            </a:r>
          </a:p>
          <a:p>
            <a:r>
              <a:rPr lang="es-PE" dirty="0"/>
              <a:t>	- Banco de Crédito del Perú S.A.A (CREDITC1)</a:t>
            </a:r>
          </a:p>
          <a:p>
            <a:r>
              <a:rPr lang="es-PE" dirty="0"/>
              <a:t>  	- Poderosa S.A.C (PODERC1)</a:t>
            </a:r>
          </a:p>
          <a:p>
            <a:r>
              <a:rPr lang="es-PE" dirty="0"/>
              <a:t>	- Credicorp L.T.D (BAP)</a:t>
            </a:r>
          </a:p>
          <a:p>
            <a:r>
              <a:rPr lang="es-PE" dirty="0"/>
              <a:t>  	- Sociedad Minera Cerro Verde S.A.A. (CVERDEC1)</a:t>
            </a:r>
          </a:p>
          <a:p>
            <a:endParaRPr lang="es-PE" dirty="0"/>
          </a:p>
          <a:p>
            <a:r>
              <a:rPr lang="es-ES" dirty="0"/>
              <a:t>• El periodo de análisis comprende un año desde el 01-01-2023 hasta el 31-12-2024.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CE93893-F088-2144-807D-B3586320AF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88" y="3405085"/>
            <a:ext cx="5697157" cy="310650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4544FBF-DD9D-B3D9-88B1-80BF8788E0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3380257"/>
            <a:ext cx="5763208" cy="315508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4027581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145AF-EBAF-CAF4-960F-4D2CA6E6A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>
            <a:extLst>
              <a:ext uri="{FF2B5EF4-FFF2-40B4-BE49-F238E27FC236}">
                <a16:creationId xmlns:a16="http://schemas.microsoft.com/office/drawing/2014/main" id="{8671DD94-ABC1-73D1-3EA9-65F893BD15F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192" y="85844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15" name="Object 14" hidden="1">
                        <a:extLst>
                          <a:ext uri="{FF2B5EF4-FFF2-40B4-BE49-F238E27FC236}">
                            <a16:creationId xmlns:a16="http://schemas.microsoft.com/office/drawing/2014/main" id="{4910337B-6AE2-2FC7-86F1-73EB31F732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25192" y="858442"/>
                        <a:ext cx="1190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FE35D59B-C9A5-E08E-048F-84CB70302200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514258" y="778283"/>
            <a:ext cx="138548" cy="276999"/>
          </a:xfrm>
          <a:prstGeom prst="rect">
            <a:avLst/>
          </a:prstGeom>
          <a:solidFill>
            <a:schemeClr val="lt1"/>
          </a:solidFill>
          <a:ln w="127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825" b="1">
              <a:solidFill>
                <a:srgbClr val="1792E5"/>
              </a:solidFill>
              <a:sym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AB3A606-CE66-6CE1-F423-ADE89BEA0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78" y="512529"/>
            <a:ext cx="11201401" cy="739748"/>
          </a:xfrm>
        </p:spPr>
        <p:txBody>
          <a:bodyPr/>
          <a:lstStyle/>
          <a:p>
            <a:pPr>
              <a:lnSpc>
                <a:spcPts val="2940"/>
              </a:lnSpc>
            </a:pPr>
            <a:r>
              <a:rPr lang="en-US" sz="2900" b="1" dirty="0">
                <a:latin typeface="Arial Black"/>
              </a:rPr>
              <a:t>EMPRESAS Y PERIODO DE ANALISIS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32EF1420-C1B4-70C7-0D7A-FB96B81D32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578" y="1175657"/>
            <a:ext cx="4853645" cy="265229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3B574AA3-1F20-D319-79B9-37B950DADF5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578" y="4026797"/>
            <a:ext cx="4853645" cy="265229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DD746D44-96E5-0C18-3F3D-596D20044B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4777" y="4026798"/>
            <a:ext cx="4853645" cy="265229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7E543470-F073-8D13-0BB1-E6F2032D13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4776" y="1175657"/>
            <a:ext cx="4853645" cy="265229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35008575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40291-FA0C-4D34-AAB2-93DDAE8AA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>
            <a:extLst>
              <a:ext uri="{FF2B5EF4-FFF2-40B4-BE49-F238E27FC236}">
                <a16:creationId xmlns:a16="http://schemas.microsoft.com/office/drawing/2014/main" id="{8D8B2D60-A013-7B06-4AFF-D0A4637FB7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192" y="85844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15" name="Object 14" hidden="1">
                        <a:extLst>
                          <a:ext uri="{FF2B5EF4-FFF2-40B4-BE49-F238E27FC236}">
                            <a16:creationId xmlns:a16="http://schemas.microsoft.com/office/drawing/2014/main" id="{4910337B-6AE2-2FC7-86F1-73EB31F732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25192" y="858442"/>
                        <a:ext cx="1190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37AC6B78-1C67-8FBF-17E6-132C6DEC1442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514258" y="778283"/>
            <a:ext cx="138548" cy="276999"/>
          </a:xfrm>
          <a:prstGeom prst="rect">
            <a:avLst/>
          </a:prstGeom>
          <a:solidFill>
            <a:schemeClr val="lt1"/>
          </a:solidFill>
          <a:ln w="127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825" b="1">
              <a:solidFill>
                <a:srgbClr val="1792E5"/>
              </a:solidFill>
              <a:sym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ED58ED3-FDFB-FC5A-C598-88149B88B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78" y="512529"/>
            <a:ext cx="11201401" cy="739748"/>
          </a:xfrm>
        </p:spPr>
        <p:txBody>
          <a:bodyPr/>
          <a:lstStyle/>
          <a:p>
            <a:pPr>
              <a:lnSpc>
                <a:spcPts val="2940"/>
              </a:lnSpc>
            </a:pPr>
            <a:r>
              <a:rPr lang="en-US" sz="2900" b="1" dirty="0">
                <a:latin typeface="Arial Black"/>
              </a:rPr>
              <a:t>CALCULO DE RENDIMIENTOS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C54439-8AB3-9882-1065-5548578B06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782" y="1757084"/>
            <a:ext cx="5506218" cy="3991532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F30B8B-9D03-FCD8-5F7B-0D9A9F07D7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4778" y="1252277"/>
            <a:ext cx="5525271" cy="1543265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3D27C9-6274-5F73-08D9-893B8A5D61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4778" y="2966898"/>
            <a:ext cx="5420481" cy="1991003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D058BE-B56F-DCFD-8068-E2003B2A75F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4778" y="5286589"/>
            <a:ext cx="5401429" cy="924054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369647082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7D81C-5E31-2016-83D8-A3D62365C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>
            <a:extLst>
              <a:ext uri="{FF2B5EF4-FFF2-40B4-BE49-F238E27FC236}">
                <a16:creationId xmlns:a16="http://schemas.microsoft.com/office/drawing/2014/main" id="{1C4A61AF-A73B-7D95-ABB4-A2566569BBB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192" y="85844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15" name="Object 14" hidden="1">
                        <a:extLst>
                          <a:ext uri="{FF2B5EF4-FFF2-40B4-BE49-F238E27FC236}">
                            <a16:creationId xmlns:a16="http://schemas.microsoft.com/office/drawing/2014/main" id="{8D8B2D60-A013-7B06-4AFF-D0A4637FB7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25192" y="858442"/>
                        <a:ext cx="1190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0663586F-CFFC-F14F-F393-A8692F64EBBB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514258" y="778283"/>
            <a:ext cx="138548" cy="276999"/>
          </a:xfrm>
          <a:prstGeom prst="rect">
            <a:avLst/>
          </a:prstGeom>
          <a:solidFill>
            <a:schemeClr val="lt1"/>
          </a:solidFill>
          <a:ln w="127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825" b="1">
              <a:solidFill>
                <a:srgbClr val="1792E5"/>
              </a:solidFill>
              <a:sym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9781C0A-D38E-C9C7-5B47-44F322E23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78" y="512529"/>
            <a:ext cx="11201401" cy="739748"/>
          </a:xfrm>
        </p:spPr>
        <p:txBody>
          <a:bodyPr/>
          <a:lstStyle/>
          <a:p>
            <a:pPr>
              <a:lnSpc>
                <a:spcPts val="2940"/>
              </a:lnSpc>
            </a:pPr>
            <a:r>
              <a:rPr lang="en-US" sz="2900" b="1" dirty="0">
                <a:latin typeface="Arial Black"/>
              </a:rPr>
              <a:t>CALCULO DE RENDIMIENTOS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303197-869F-37E1-32F8-B999855EA194}"/>
              </a:ext>
            </a:extLst>
          </p:cNvPr>
          <p:cNvSpPr/>
          <p:nvPr/>
        </p:nvSpPr>
        <p:spPr>
          <a:xfrm>
            <a:off x="728396" y="2018400"/>
            <a:ext cx="36843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dirty="0"/>
              <a:t>Primeros 15 datos: </a:t>
            </a:r>
            <a:endParaRPr lang="es-E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FC12AB-56FC-D040-59AD-08A78669D532}"/>
              </a:ext>
            </a:extLst>
          </p:cNvPr>
          <p:cNvSpPr/>
          <p:nvPr/>
        </p:nvSpPr>
        <p:spPr>
          <a:xfrm>
            <a:off x="4873821" y="1628604"/>
            <a:ext cx="36843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dirty="0"/>
              <a:t>499 datos: </a:t>
            </a:r>
            <a:endParaRPr lang="es-ES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068FA37-038B-246D-41E5-C6FB0EF90B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905" y="2387732"/>
            <a:ext cx="4486991" cy="4061813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8975E50D-EC10-F5B6-7286-51D88FCA076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9011" y="1997936"/>
            <a:ext cx="7117520" cy="363018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6740347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1928D-90E1-4ED5-48CC-462DC0A65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>
            <a:extLst>
              <a:ext uri="{FF2B5EF4-FFF2-40B4-BE49-F238E27FC236}">
                <a16:creationId xmlns:a16="http://schemas.microsoft.com/office/drawing/2014/main" id="{769A97A7-EF36-51D0-8F07-780B294CD19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192" y="85844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15" name="Object 14" hidden="1">
                        <a:extLst>
                          <a:ext uri="{FF2B5EF4-FFF2-40B4-BE49-F238E27FC236}">
                            <a16:creationId xmlns:a16="http://schemas.microsoft.com/office/drawing/2014/main" id="{8D8B2D60-A013-7B06-4AFF-D0A4637FB7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25192" y="858442"/>
                        <a:ext cx="1190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20DFD198-3641-1669-7054-A3FF792A2DBB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514258" y="778283"/>
            <a:ext cx="138548" cy="276999"/>
          </a:xfrm>
          <a:prstGeom prst="rect">
            <a:avLst/>
          </a:prstGeom>
          <a:solidFill>
            <a:schemeClr val="lt1"/>
          </a:solidFill>
          <a:ln w="127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825" b="1">
              <a:solidFill>
                <a:srgbClr val="1792E5"/>
              </a:solidFill>
              <a:sym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0422669-D553-8F13-C79E-E791A11A9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78" y="512529"/>
            <a:ext cx="11201401" cy="739748"/>
          </a:xfrm>
        </p:spPr>
        <p:txBody>
          <a:bodyPr/>
          <a:lstStyle/>
          <a:p>
            <a:pPr>
              <a:lnSpc>
                <a:spcPts val="2940"/>
              </a:lnSpc>
            </a:pPr>
            <a:r>
              <a:rPr lang="en-US" sz="2900" b="1" dirty="0" err="1">
                <a:latin typeface="Arial Black"/>
              </a:rPr>
              <a:t>Matriz</a:t>
            </a:r>
            <a:r>
              <a:rPr lang="en-US" sz="2900" b="1" dirty="0">
                <a:latin typeface="Arial Black"/>
              </a:rPr>
              <a:t> de </a:t>
            </a:r>
            <a:r>
              <a:rPr lang="en-US" sz="2900" b="1" dirty="0" err="1">
                <a:latin typeface="Arial Black"/>
              </a:rPr>
              <a:t>covarianza</a:t>
            </a:r>
            <a:endParaRPr lang="en-US" sz="2900" b="1" dirty="0">
              <a:latin typeface="Arial Black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1DC2C1-B717-A240-D2FC-A548905A570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5867"/>
          <a:stretch>
            <a:fillRect/>
          </a:stretch>
        </p:blipFill>
        <p:spPr>
          <a:xfrm>
            <a:off x="395803" y="1320800"/>
            <a:ext cx="6771932" cy="17758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FBC55F-50D8-ECA5-E4CD-6B0504FB2F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799" y="3920727"/>
            <a:ext cx="6951936" cy="230505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227DBB2-0AF0-7A79-4BC6-843E736FA6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8561" y="1710079"/>
            <a:ext cx="5449060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150755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6ADC8-4978-5A92-F63E-5176A29E9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>
            <a:extLst>
              <a:ext uri="{FF2B5EF4-FFF2-40B4-BE49-F238E27FC236}">
                <a16:creationId xmlns:a16="http://schemas.microsoft.com/office/drawing/2014/main" id="{690ED207-B718-8E2B-6832-0E2917E1EF4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192" y="85844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15" name="Object 14" hidden="1">
                        <a:extLst>
                          <a:ext uri="{FF2B5EF4-FFF2-40B4-BE49-F238E27FC236}">
                            <a16:creationId xmlns:a16="http://schemas.microsoft.com/office/drawing/2014/main" id="{1C4A61AF-A73B-7D95-ABB4-A2566569BB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25192" y="858442"/>
                        <a:ext cx="1190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DD67A53A-20D6-CAB3-4560-79B27874AB6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514258" y="778283"/>
            <a:ext cx="138548" cy="276999"/>
          </a:xfrm>
          <a:prstGeom prst="rect">
            <a:avLst/>
          </a:prstGeom>
          <a:solidFill>
            <a:schemeClr val="lt1"/>
          </a:solidFill>
          <a:ln w="127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825" b="1">
              <a:solidFill>
                <a:srgbClr val="1792E5"/>
              </a:solidFill>
              <a:sym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2DCCA0E-7EB6-0F1F-4BDC-FD45D00CA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78" y="512529"/>
            <a:ext cx="11201401" cy="739748"/>
          </a:xfrm>
        </p:spPr>
        <p:txBody>
          <a:bodyPr/>
          <a:lstStyle/>
          <a:p>
            <a:pPr>
              <a:lnSpc>
                <a:spcPts val="2940"/>
              </a:lnSpc>
            </a:pPr>
            <a:r>
              <a:rPr lang="en-US" sz="2900" b="1" dirty="0" err="1">
                <a:latin typeface="Arial Black"/>
              </a:rPr>
              <a:t>Simulacion</a:t>
            </a:r>
            <a:r>
              <a:rPr lang="en-US" sz="2900" b="1" dirty="0">
                <a:latin typeface="Arial Black"/>
              </a:rPr>
              <a:t> de </a:t>
            </a:r>
            <a:r>
              <a:rPr lang="en-US" sz="2900" b="1" dirty="0" err="1">
                <a:latin typeface="Arial Black"/>
              </a:rPr>
              <a:t>retornos</a:t>
            </a:r>
            <a:r>
              <a:rPr lang="en-US" sz="2900" b="1" dirty="0">
                <a:latin typeface="Arial Black"/>
              </a:rPr>
              <a:t> - </a:t>
            </a:r>
            <a:r>
              <a:rPr lang="en-US" sz="2900" b="1" dirty="0" err="1">
                <a:latin typeface="Arial Black"/>
              </a:rPr>
              <a:t>cholesky</a:t>
            </a:r>
            <a:endParaRPr lang="en-US" sz="2900" b="1" dirty="0">
              <a:latin typeface="Arial Black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25A929-D032-2A0A-7239-75FE080C764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4482"/>
          <a:stretch>
            <a:fillRect/>
          </a:stretch>
        </p:blipFill>
        <p:spPr>
          <a:xfrm>
            <a:off x="45027" y="3805372"/>
            <a:ext cx="6262841" cy="232095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AC642E7-AA54-58F5-F765-9F3F2DEB57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84346" y="1548757"/>
            <a:ext cx="2248214" cy="59063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4C4D6E4-32B2-F4E3-A2B3-B56796EDAD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31923" y="1489134"/>
            <a:ext cx="3591426" cy="60968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78585A0-F233-7FAD-C260-D603E5A1B3D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9074" y="2620476"/>
            <a:ext cx="1086002" cy="41915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127EF93-2CC9-1895-46AA-9259579F43C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29282" y="2559849"/>
            <a:ext cx="1467055" cy="46679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8717F9C4-39C4-82A4-A0EF-02697D69548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43475" y="3818367"/>
            <a:ext cx="5792008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620115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4211D-EB19-5E00-7EC1-D6897A6C5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7F5793B-A30E-19AE-9F49-0A559E107E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248" y="914400"/>
            <a:ext cx="8750037" cy="581373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25E483E-7C29-0BA2-7854-B6ACFB3A587F}"/>
              </a:ext>
            </a:extLst>
          </p:cNvPr>
          <p:cNvSpPr txBox="1">
            <a:spLocks/>
          </p:cNvSpPr>
          <p:nvPr/>
        </p:nvSpPr>
        <p:spPr>
          <a:xfrm>
            <a:off x="864078" y="512529"/>
            <a:ext cx="11201401" cy="7397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940"/>
              </a:lnSpc>
            </a:pPr>
            <a:r>
              <a:rPr lang="en-US" sz="2900" b="1">
                <a:latin typeface="Arial Black"/>
              </a:rPr>
              <a:t>Simulacion de retornos - cholesky</a:t>
            </a:r>
            <a:endParaRPr lang="en-US" sz="2900" b="1" dirty="0">
              <a:latin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067925430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15BBC-DCF8-5635-1240-B9275204B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err="1"/>
              <a:t>Proyeccion</a:t>
            </a:r>
            <a:r>
              <a:rPr lang="es-PE" dirty="0"/>
              <a:t> empírica - precio forward (t=90)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15DECC-64D5-39B5-E01D-8B35A90D3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99" y="1719024"/>
            <a:ext cx="5372850" cy="34199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90E566-E6E6-A683-88E6-A2EDACB74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903" y="1357160"/>
            <a:ext cx="5353797" cy="21815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FE05CB-49CD-DABD-616F-B228A55B4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853" y="3662395"/>
            <a:ext cx="5725324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318957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D7FDC-1C2E-1DBA-5140-4EEAAAAB2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127DE-B516-7ECA-9BAC-827432A44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err="1"/>
              <a:t>Proyeccion</a:t>
            </a:r>
            <a:r>
              <a:rPr lang="es-PE" dirty="0"/>
              <a:t> empírica - precio forward (t=90)</a:t>
            </a:r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3CF85A1-E6C8-53D2-4889-6CF7ADF57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266" y="2696548"/>
            <a:ext cx="7547342" cy="198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871823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2BF51-28F6-D809-9F51-B277EA83A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Retorno simulado con precios forward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F49C7F-9754-46AE-BEE2-98B1B7630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99" y="1609427"/>
            <a:ext cx="4048690" cy="426779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7ABDE30-5749-1670-E01A-AA6AFA7A3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2870" y="1609427"/>
            <a:ext cx="6488949" cy="38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415102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CD708-6F73-51AE-2291-8E94C2296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err="1"/>
              <a:t>Simulacion</a:t>
            </a:r>
            <a:r>
              <a:rPr lang="es-PE" dirty="0"/>
              <a:t> vector c - </a:t>
            </a:r>
            <a:r>
              <a:rPr lang="es-PE" dirty="0" err="1"/>
              <a:t>dirichlet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2DAE94-5650-8BF5-F8CE-7EEF4EB5C1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916" r="30737"/>
          <a:stretch>
            <a:fillRect/>
          </a:stretch>
        </p:blipFill>
        <p:spPr>
          <a:xfrm>
            <a:off x="2855104" y="3775596"/>
            <a:ext cx="5467802" cy="283903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53A829E-F3E0-453E-2871-0F74132FF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707" y="1530222"/>
            <a:ext cx="7233450" cy="202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869390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8E6B8-743F-6FB6-28E8-B8F8AC5F4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>
            <a:extLst>
              <a:ext uri="{FF2B5EF4-FFF2-40B4-BE49-F238E27FC236}">
                <a16:creationId xmlns:a16="http://schemas.microsoft.com/office/drawing/2014/main" id="{4A348E8C-A2B8-3925-4166-5E46238FA0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192" y="85844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15" name="Object 14" hidden="1">
                        <a:extLst>
                          <a:ext uri="{FF2B5EF4-FFF2-40B4-BE49-F238E27FC236}">
                            <a16:creationId xmlns:a16="http://schemas.microsoft.com/office/drawing/2014/main" id="{4A348E8C-A2B8-3925-4166-5E46238FA0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25192" y="858442"/>
                        <a:ext cx="1190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AF719117-036A-E47E-90F1-FED2726A6DBC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514258" y="778283"/>
            <a:ext cx="138548" cy="276999"/>
          </a:xfrm>
          <a:prstGeom prst="rect">
            <a:avLst/>
          </a:prstGeom>
          <a:solidFill>
            <a:schemeClr val="lt1"/>
          </a:solidFill>
          <a:ln w="127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825" b="1">
              <a:solidFill>
                <a:srgbClr val="1792E5"/>
              </a:solidFill>
              <a:sym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3ADF722-5CDB-8100-0291-AB019B32E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78" y="512529"/>
            <a:ext cx="11201401" cy="739748"/>
          </a:xfrm>
        </p:spPr>
        <p:txBody>
          <a:bodyPr/>
          <a:lstStyle/>
          <a:p>
            <a:pPr>
              <a:lnSpc>
                <a:spcPts val="2940"/>
              </a:lnSpc>
            </a:pPr>
            <a:r>
              <a:rPr lang="en-US" sz="2900" b="1" dirty="0">
                <a:latin typeface="Arial Black"/>
              </a:rPr>
              <a:t>Media vs Riesgo - expected shortfall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85A95A-DF22-50CA-EA8C-0CA537E426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804" y="1542208"/>
            <a:ext cx="4062091" cy="20970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F9C263-1780-31E3-F1B1-E6D88095AF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833" y="4089120"/>
            <a:ext cx="4676034" cy="80056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8B23814-D02C-411C-D6C2-12049DF8BB6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886" y="1150294"/>
            <a:ext cx="7050593" cy="546511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97274117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0CB58-8B07-CE6E-1F3F-AF9B62E35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escalamiento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174E92-E73E-B3EB-8D3C-7F1AC83F3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98" y="1134987"/>
            <a:ext cx="11201401" cy="8736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E80C9E-5F1C-3FB7-A707-C7619A188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265" y="2144556"/>
            <a:ext cx="5719466" cy="462766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50AA229-416C-80F7-D560-C795E3AC2387}"/>
              </a:ext>
            </a:extLst>
          </p:cNvPr>
          <p:cNvSpPr/>
          <p:nvPr/>
        </p:nvSpPr>
        <p:spPr>
          <a:xfrm>
            <a:off x="6345044" y="2520176"/>
            <a:ext cx="2531327" cy="1103970"/>
          </a:xfrm>
          <a:prstGeom prst="rect">
            <a:avLst/>
          </a:prstGeom>
          <a:solidFill>
            <a:srgbClr val="1FDD6C">
              <a:alpha val="38000"/>
            </a:srgbClr>
          </a:solidFill>
          <a:ln>
            <a:solidFill>
              <a:srgbClr val="1FDD6C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8692738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2F90268-90BC-F441-B0E9-4A1FA511E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A956E-8AD9-27AD-288E-FEE9DC320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err="1"/>
              <a:t>Analisis</a:t>
            </a:r>
            <a:r>
              <a:rPr lang="es-PE" dirty="0"/>
              <a:t> </a:t>
            </a:r>
            <a:r>
              <a:rPr lang="es-PE" dirty="0" err="1"/>
              <a:t>max</a:t>
            </a:r>
            <a:r>
              <a:rPr lang="es-PE" dirty="0"/>
              <a:t> portafolios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99CBCA-2759-82AA-93E4-E7847000D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99" y="1052322"/>
            <a:ext cx="7023899" cy="55354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E2DE2C-432F-87B2-4724-A97EF6808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2248" y="2432327"/>
            <a:ext cx="4401589" cy="159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927555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F2C508A-6AD7-68E7-D720-C892F6A97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BA2FC-9C73-7C29-37B3-B3597B589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err="1"/>
              <a:t>Analisis</a:t>
            </a:r>
            <a:r>
              <a:rPr lang="es-PE" dirty="0"/>
              <a:t> min portafolios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B3DA44-B952-15F1-460E-A21C8CBB9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99" y="1063550"/>
            <a:ext cx="6978065" cy="55268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9C70BD-D83E-5040-E36E-81AED9593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644" y="2633049"/>
            <a:ext cx="4397830" cy="159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156446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7AB6D-2C86-5412-B321-B70657C4F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41DD5-0428-0041-12CD-B9E175CF7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Max y min portafolio</a:t>
            </a:r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27814FD-CA5A-4900-9674-B91E230DC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99" y="1026634"/>
            <a:ext cx="6232072" cy="483065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1210923-24CB-868F-3B9B-6466F651B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087" y="5974346"/>
            <a:ext cx="8238635" cy="77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183454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3BD63-FD72-4E93-C282-3F65EE09F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Histograma de portfolios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22F813F-679E-4058-93B9-374FCD037C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0569" y="1042977"/>
            <a:ext cx="7077242" cy="567926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02418984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593F8-B0EC-4933-25C9-A7F52BB20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71886-BE14-1D63-E0D8-C28D0E1DE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99" y="495300"/>
            <a:ext cx="11201401" cy="4191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s-PE" sz="3000" dirty="0"/>
              <a:t>CONCLUSIONES</a:t>
            </a:r>
            <a:endParaRPr lang="en-US" sz="3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B9CAB-8817-DCAE-9D2C-0C184EC4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9755" y="6480164"/>
            <a:ext cx="496945" cy="23761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7B94EC18-1D2B-4535-B738-0E53AFE26620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F52BCA8-475D-598A-6138-17D5C5B6531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-1" y="5867400"/>
            <a:ext cx="12192000" cy="495299"/>
          </a:xfrm>
        </p:spPr>
        <p:txBody>
          <a:bodyPr/>
          <a:lstStyle/>
          <a:p>
            <a:r>
              <a:rPr lang="es-PE" dirty="0"/>
              <a:t>SELECCIÓN DE PORTAFOLIOS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DFE32-F092-F017-558A-3973D62EC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11239500" cy="366291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Con </a:t>
            </a:r>
            <a:r>
              <a:rPr lang="es-ES" dirty="0" err="1"/>
              <a:t>Expected</a:t>
            </a:r>
            <a:r>
              <a:rPr lang="es-ES" dirty="0"/>
              <a:t> </a:t>
            </a:r>
            <a:r>
              <a:rPr lang="es-ES" dirty="0" err="1"/>
              <a:t>ShortFall</a:t>
            </a:r>
            <a:r>
              <a:rPr lang="es-ES" dirty="0"/>
              <a:t> 'CREDITC1’ y 'BAP’ dominan la composición del mejor portafolio.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Se obtendría un mejor retorno considerando el mejor portafolio que se seleccionó.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Cuando ocurren eventos extremos, el peor portafolio pierde más en promedio.</a:t>
            </a:r>
            <a:endParaRPr lang="es-E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Un portafolio puede tener buen retorno promedio y, aun así, alto riesgo extremo, como se indica en el histograma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63179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59A88-40BC-498F-A496-230917BC7A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1"/>
                </a:solidFill>
              </a:rPr>
              <a:t>muchas</a:t>
            </a:r>
            <a:br>
              <a:rPr lang="en-US" dirty="0"/>
            </a:br>
            <a:r>
              <a:rPr lang="en-US" dirty="0"/>
              <a:t>gracias.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CC555A5-B91B-449A-97C5-131B1396D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31337-6401-4EA9-A65D-BDDF9A478A3B}" type="datetime4">
              <a:rPr lang="en-US" smtClean="0"/>
              <a:t>January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7893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vHljgAUQWiPrP_nUCWyJ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vHljgAUQWiPrP_nUCWyJ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vHljgAUQWiPrP_nUCWyJ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vHljgAUQWiPrP_nUCWyJ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vHljgAUQWiPrP_nUCWyJ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vHljgAUQWiPrP_nUCWyJ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vHljgAUQWiPrP_nUCWyJg"/>
</p:tagLst>
</file>

<file path=ppt/theme/theme1.xml><?xml version="1.0" encoding="utf-8"?>
<a:theme xmlns:a="http://schemas.openxmlformats.org/drawingml/2006/main" name="Honeywell 2019">
  <a:themeElements>
    <a:clrScheme name="Honeywell">
      <a:dk1>
        <a:sysClr val="windowText" lastClr="000000"/>
      </a:dk1>
      <a:lt1>
        <a:sysClr val="window" lastClr="FFFFFF"/>
      </a:lt1>
      <a:dk2>
        <a:srgbClr val="404040"/>
      </a:dk2>
      <a:lt2>
        <a:srgbClr val="E0E0E0"/>
      </a:lt2>
      <a:accent1>
        <a:srgbClr val="DC202E"/>
      </a:accent1>
      <a:accent2>
        <a:srgbClr val="404040"/>
      </a:accent2>
      <a:accent3>
        <a:srgbClr val="707070"/>
      </a:accent3>
      <a:accent4>
        <a:srgbClr val="A0A0A0"/>
      </a:accent4>
      <a:accent5>
        <a:srgbClr val="C0C0C0"/>
      </a:accent5>
      <a:accent6>
        <a:srgbClr val="E0E0E0"/>
      </a:accent6>
      <a:hlink>
        <a:srgbClr val="000000"/>
      </a:hlink>
      <a:folHlink>
        <a:srgbClr val="000000"/>
      </a:folHlink>
    </a:clrScheme>
    <a:fontScheme name="Honeywel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Honeywell PowerPoint Template16x9Final Arial 5619 pptx pptx" id="{7635D333-A57E-4887-9713-7EB48BD39D6A}" vid="{8AE9D950-E980-4761-B1E3-E074B380DEC7}"/>
    </a:ext>
  </a:extLst>
</a:theme>
</file>

<file path=ppt/theme/theme2.xml><?xml version="1.0" encoding="utf-8"?>
<a:theme xmlns:a="http://schemas.openxmlformats.org/drawingml/2006/main" name="Office Theme">
  <a:themeElements>
    <a:clrScheme name="Honeywell">
      <a:dk1>
        <a:sysClr val="windowText" lastClr="000000"/>
      </a:dk1>
      <a:lt1>
        <a:sysClr val="window" lastClr="FFFFFF"/>
      </a:lt1>
      <a:dk2>
        <a:srgbClr val="404040"/>
      </a:dk2>
      <a:lt2>
        <a:srgbClr val="E0E0E0"/>
      </a:lt2>
      <a:accent1>
        <a:srgbClr val="DC202E"/>
      </a:accent1>
      <a:accent2>
        <a:srgbClr val="404040"/>
      </a:accent2>
      <a:accent3>
        <a:srgbClr val="707070"/>
      </a:accent3>
      <a:accent4>
        <a:srgbClr val="A0A0A0"/>
      </a:accent4>
      <a:accent5>
        <a:srgbClr val="C0C0C0"/>
      </a:accent5>
      <a:accent6>
        <a:srgbClr val="E0E0E0"/>
      </a:accent6>
      <a:hlink>
        <a:srgbClr val="000000"/>
      </a:hlink>
      <a:folHlink>
        <a:srgbClr val="000000"/>
      </a:folHlink>
    </a:clrScheme>
    <a:fontScheme name="Honeywel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Honeywell">
      <a:dk1>
        <a:sysClr val="windowText" lastClr="000000"/>
      </a:dk1>
      <a:lt1>
        <a:sysClr val="window" lastClr="FFFFFF"/>
      </a:lt1>
      <a:dk2>
        <a:srgbClr val="404040"/>
      </a:dk2>
      <a:lt2>
        <a:srgbClr val="E0E0E0"/>
      </a:lt2>
      <a:accent1>
        <a:srgbClr val="DC202E"/>
      </a:accent1>
      <a:accent2>
        <a:srgbClr val="404040"/>
      </a:accent2>
      <a:accent3>
        <a:srgbClr val="707070"/>
      </a:accent3>
      <a:accent4>
        <a:srgbClr val="A0A0A0"/>
      </a:accent4>
      <a:accent5>
        <a:srgbClr val="C0C0C0"/>
      </a:accent5>
      <a:accent6>
        <a:srgbClr val="E0E0E0"/>
      </a:accent6>
      <a:hlink>
        <a:srgbClr val="000000"/>
      </a:hlink>
      <a:folHlink>
        <a:srgbClr val="000000"/>
      </a:folHlink>
    </a:clrScheme>
    <a:fontScheme name="Honeywel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D782219711EB646ADE630BB4AB57ACF" ma:contentTypeVersion="9" ma:contentTypeDescription="Create a new document." ma:contentTypeScope="" ma:versionID="1e8dfd7c841f721e6513f43f8108cd8c">
  <xsd:schema xmlns:xsd="http://www.w3.org/2001/XMLSchema" xmlns:xs="http://www.w3.org/2001/XMLSchema" xmlns:p="http://schemas.microsoft.com/office/2006/metadata/properties" xmlns:ns2="86f734fe-f520-4a15-88a7-1cc0284c39b9" xmlns:ns3="6adcb138-2c6b-49e3-94d2-70cd1a2e0d91" targetNamespace="http://schemas.microsoft.com/office/2006/metadata/properties" ma:root="true" ma:fieldsID="568459f09b5e93c725d41e3ee5147408" ns2:_="" ns3:_="">
    <xsd:import namespace="86f734fe-f520-4a15-88a7-1cc0284c39b9"/>
    <xsd:import namespace="6adcb138-2c6b-49e3-94d2-70cd1a2e0d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f734fe-f520-4a15-88a7-1cc0284c39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dcb138-2c6b-49e3-94d2-70cd1a2e0d9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8308AD-929C-4AF1-934C-AD13F105D728}">
  <ds:schemaRefs>
    <ds:schemaRef ds:uri="6adcb138-2c6b-49e3-94d2-70cd1a2e0d91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86f734fe-f520-4a15-88a7-1cc0284c39b9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3A96D48-C214-4F88-BF4C-52E319A5EF2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15618EA-EC1E-43D5-A7B8-29393A7731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f734fe-f520-4a15-88a7-1cc0284c39b9"/>
    <ds:schemaRef ds:uri="6adcb138-2c6b-49e3-94d2-70cd1a2e0d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Honeywell PowerPoint Template_A</Template>
  <TotalTime>6384</TotalTime>
  <Words>428</Words>
  <Application>Microsoft Office PowerPoint</Application>
  <PresentationFormat>Panorámica</PresentationFormat>
  <Paragraphs>63</Paragraphs>
  <Slides>22</Slides>
  <Notes>9</Notes>
  <HiddenSlides>4</HiddenSlides>
  <MMClips>0</MMClips>
  <ScaleCrop>false</ScaleCrop>
  <HeadingPairs>
    <vt:vector size="8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Arial</vt:lpstr>
      <vt:lpstr>Arial Black</vt:lpstr>
      <vt:lpstr>Honeywell Sans</vt:lpstr>
      <vt:lpstr>Honeywell 2019</vt:lpstr>
      <vt:lpstr>think-cell Slide</vt:lpstr>
      <vt:lpstr>Seleccion de portafolio expected shortfall</vt:lpstr>
      <vt:lpstr>Presentación de PowerPoint</vt:lpstr>
      <vt:lpstr>introduccion  • El péndulo doble es un sistema dinámico no lineal y caótico.  • Pequeñas variaciones en condiciones iniciales producen grandes diferencias.  • Se analiza el efecto del ruido estocástico en su evolución</vt:lpstr>
      <vt:lpstr>EMPRESAS Y PERIODO DE ANALISIS</vt:lpstr>
      <vt:lpstr>EMPRESAS Y PERIODO DE ANALISIS</vt:lpstr>
      <vt:lpstr>CALCULO DE RENDIMIENTOS</vt:lpstr>
      <vt:lpstr>CALCULO DE RENDIMIENTOS</vt:lpstr>
      <vt:lpstr>Matriz de covarianza</vt:lpstr>
      <vt:lpstr>Simulacion de retornos - cholesky</vt:lpstr>
      <vt:lpstr>Presentación de PowerPoint</vt:lpstr>
      <vt:lpstr>Proyeccion empírica - precio forward (t=90)</vt:lpstr>
      <vt:lpstr>Proyeccion empírica - precio forward (t=90)</vt:lpstr>
      <vt:lpstr>Retorno simulado con precios forward</vt:lpstr>
      <vt:lpstr>Simulacion vector c - dirichlet</vt:lpstr>
      <vt:lpstr>Media vs Riesgo - expected shortfall</vt:lpstr>
      <vt:lpstr>escalamiento</vt:lpstr>
      <vt:lpstr>Analisis max portafolios</vt:lpstr>
      <vt:lpstr>Analisis min portafolios</vt:lpstr>
      <vt:lpstr>Max y min portafolio</vt:lpstr>
      <vt:lpstr>Histograma de portfolios</vt:lpstr>
      <vt:lpstr>CONCLUSIONES</vt:lpstr>
      <vt:lpstr>muchas gracias.</vt:lpstr>
    </vt:vector>
  </TitlesOfParts>
  <Company>Interpublic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Honeywell  PowerPoint template 2019</dc:title>
  <dc:creator>Sanchez, Roberto (AS)</dc:creator>
  <cp:lastModifiedBy>Usuario</cp:lastModifiedBy>
  <cp:revision>189</cp:revision>
  <dcterms:created xsi:type="dcterms:W3CDTF">2021-08-03T02:13:01Z</dcterms:created>
  <dcterms:modified xsi:type="dcterms:W3CDTF">2026-01-04T03:39:38Z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0x0101003D782219711EB646ADE630BB4AB57ACF</vt:lpwstr>
  </property>
  <property fmtid="{D5CDD505-2E9C-101B-9397-08002B2CF9AE}" pid="3" name="MSIP_Label_d546e5e1-5d42-4630-bacd-c69bfdcbd5e8_Enabled">
    <vt:lpwstr>true</vt:lpwstr>
  </property>
  <property fmtid="{D5CDD505-2E9C-101B-9397-08002B2CF9AE}" pid="4" name="MSIP_Label_d546e5e1-5d42-4630-bacd-c69bfdcbd5e8_SetDate">
    <vt:lpwstr>2022-04-19T21:16:45Z</vt:lpwstr>
  </property>
  <property fmtid="{D5CDD505-2E9C-101B-9397-08002B2CF9AE}" pid="5" name="MSIP_Label_d546e5e1-5d42-4630-bacd-c69bfdcbd5e8_Method">
    <vt:lpwstr>Standard</vt:lpwstr>
  </property>
  <property fmtid="{D5CDD505-2E9C-101B-9397-08002B2CF9AE}" pid="6" name="MSIP_Label_d546e5e1-5d42-4630-bacd-c69bfdcbd5e8_Name">
    <vt:lpwstr>d546e5e1-5d42-4630-bacd-c69bfdcbd5e8</vt:lpwstr>
  </property>
  <property fmtid="{D5CDD505-2E9C-101B-9397-08002B2CF9AE}" pid="7" name="MSIP_Label_d546e5e1-5d42-4630-bacd-c69bfdcbd5e8_SiteId">
    <vt:lpwstr>96ece526-9c7d-48b0-8daf-8b93c90a5d18</vt:lpwstr>
  </property>
  <property fmtid="{D5CDD505-2E9C-101B-9397-08002B2CF9AE}" pid="8" name="MSIP_Label_d546e5e1-5d42-4630-bacd-c69bfdcbd5e8_ActionId">
    <vt:lpwstr>72b910a9-c875-4840-bb0a-48585829c3c6</vt:lpwstr>
  </property>
  <property fmtid="{D5CDD505-2E9C-101B-9397-08002B2CF9AE}" pid="9" name="MSIP_Label_d546e5e1-5d42-4630-bacd-c69bfdcbd5e8_ContentBits">
    <vt:lpwstr>0</vt:lpwstr>
  </property>
  <property fmtid="{D5CDD505-2E9C-101B-9397-08002B2CF9AE}" pid="10" name="SmartTag">
    <vt:lpwstr>4</vt:lpwstr>
  </property>
</Properties>
</file>